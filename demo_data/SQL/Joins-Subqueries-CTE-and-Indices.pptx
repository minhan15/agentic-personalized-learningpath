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</p:sldMasterIdLst>
  <p:notesMasterIdLst>
    <p:notesMasterId r:id="rId54"/>
  </p:notesMasterIdLst>
  <p:handoutMasterIdLst>
    <p:handoutMasterId r:id="rId55"/>
  </p:handoutMasterIdLst>
  <p:sldIdLst>
    <p:sldId id="455" r:id="rId5"/>
    <p:sldId id="404" r:id="rId6"/>
    <p:sldId id="406" r:id="rId7"/>
    <p:sldId id="407" r:id="rId8"/>
    <p:sldId id="408" r:id="rId9"/>
    <p:sldId id="409" r:id="rId10"/>
    <p:sldId id="410" r:id="rId11"/>
    <p:sldId id="411" r:id="rId12"/>
    <p:sldId id="412" r:id="rId13"/>
    <p:sldId id="413" r:id="rId14"/>
    <p:sldId id="414" r:id="rId15"/>
    <p:sldId id="415" r:id="rId16"/>
    <p:sldId id="416" r:id="rId17"/>
    <p:sldId id="417" r:id="rId18"/>
    <p:sldId id="418" r:id="rId19"/>
    <p:sldId id="419" r:id="rId20"/>
    <p:sldId id="420" r:id="rId21"/>
    <p:sldId id="421" r:id="rId22"/>
    <p:sldId id="456" r:id="rId23"/>
    <p:sldId id="457" r:id="rId24"/>
    <p:sldId id="462" r:id="rId25"/>
    <p:sldId id="463" r:id="rId26"/>
    <p:sldId id="464" r:id="rId27"/>
    <p:sldId id="468" r:id="rId28"/>
    <p:sldId id="466" r:id="rId29"/>
    <p:sldId id="467" r:id="rId30"/>
    <p:sldId id="469" r:id="rId31"/>
    <p:sldId id="424" r:id="rId32"/>
    <p:sldId id="425" r:id="rId33"/>
    <p:sldId id="426" r:id="rId34"/>
    <p:sldId id="427" r:id="rId35"/>
    <p:sldId id="428" r:id="rId36"/>
    <p:sldId id="429" r:id="rId37"/>
    <p:sldId id="430" r:id="rId38"/>
    <p:sldId id="431" r:id="rId39"/>
    <p:sldId id="470" r:id="rId40"/>
    <p:sldId id="433" r:id="rId41"/>
    <p:sldId id="434" r:id="rId42"/>
    <p:sldId id="435" r:id="rId43"/>
    <p:sldId id="436" r:id="rId44"/>
    <p:sldId id="471" r:id="rId45"/>
    <p:sldId id="438" r:id="rId46"/>
    <p:sldId id="439" r:id="rId47"/>
    <p:sldId id="441" r:id="rId48"/>
    <p:sldId id="442" r:id="rId49"/>
    <p:sldId id="443" r:id="rId50"/>
    <p:sldId id="444" r:id="rId51"/>
    <p:sldId id="445" r:id="rId52"/>
    <p:sldId id="447" r:id="rId5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B33125B-ED83-4B93-BF3C-72D80798F145}">
          <p14:sldIdLst>
            <p14:sldId id="455"/>
            <p14:sldId id="404"/>
          </p14:sldIdLst>
        </p14:section>
        <p14:section name="Joins" id="{7A2D8654-6F66-4E54-9BD2-B335C0C863B7}">
          <p14:sldIdLst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56"/>
            <p14:sldId id="457"/>
            <p14:sldId id="462"/>
            <p14:sldId id="463"/>
            <p14:sldId id="464"/>
            <p14:sldId id="468"/>
            <p14:sldId id="466"/>
            <p14:sldId id="467"/>
            <p14:sldId id="469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</p14:sldIdLst>
        </p14:section>
        <p14:section name="Subqueries" id="{76D3EEA9-0216-43A0-B137-DC91BD57DB0D}">
          <p14:sldIdLst>
            <p14:sldId id="470"/>
            <p14:sldId id="433"/>
            <p14:sldId id="434"/>
            <p14:sldId id="435"/>
            <p14:sldId id="436"/>
          </p14:sldIdLst>
        </p14:section>
        <p14:section name="Common Table Expression" id="{93A8B3AD-E9F0-4B5C-87BD-F4B57253634C}">
          <p14:sldIdLst>
            <p14:sldId id="471"/>
            <p14:sldId id="438"/>
            <p14:sldId id="439"/>
          </p14:sldIdLst>
        </p14:section>
        <p14:section name="Indices" id="{6DD88DBD-05FF-4C45-A6DF-189B95CF830C}">
          <p14:sldIdLst>
            <p14:sldId id="441"/>
            <p14:sldId id="442"/>
            <p14:sldId id="443"/>
            <p14:sldId id="444"/>
            <p14:sldId id="445"/>
          </p14:sldIdLst>
        </p14:section>
        <p14:section name="Conclusion" id="{A455DB05-6798-45C7-B3F4-F78A8A5C1EFA}">
          <p14:sldIdLst>
            <p14:sldId id="4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ftUniLector" initials="S" lastIdx="1" clrIdx="0">
    <p:extLst>
      <p:ext uri="{19B8F6BF-5375-455C-9EA6-DF929625EA0E}">
        <p15:presenceInfo xmlns:p15="http://schemas.microsoft.com/office/powerpoint/2012/main" userId="SoftUniLec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4D0F"/>
    <a:srgbClr val="9EE1BC"/>
    <a:srgbClr val="EC7524"/>
    <a:srgbClr val="FF0000"/>
    <a:srgbClr val="FFFFFF"/>
    <a:srgbClr val="D9D5C7"/>
    <a:srgbClr val="000000"/>
    <a:srgbClr val="C6C0AA"/>
    <a:srgbClr val="F3BE60"/>
    <a:srgbClr val="00B05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78413" autoAdjust="0"/>
  </p:normalViewPr>
  <p:slideViewPr>
    <p:cSldViewPr>
      <p:cViewPr varScale="1">
        <p:scale>
          <a:sx n="75" d="100"/>
          <a:sy n="75" d="100"/>
        </p:scale>
        <p:origin x="912" y="43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61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4" d="100"/>
          <a:sy n="64" d="100"/>
        </p:scale>
        <p:origin x="2592" y="6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microsoft.com/office/2016/11/relationships/changesInfo" Target="changesInfos/changesInfo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 Ly Minh" userId="901a9585-0bad-4e98-9c58-38fecc165e20" providerId="ADAL" clId="{2367B433-7769-4248-B63A-C58FC920A150}"/>
    <pc:docChg chg="custSel modSld">
      <pc:chgData name="An Ly Minh" userId="901a9585-0bad-4e98-9c58-38fecc165e20" providerId="ADAL" clId="{2367B433-7769-4248-B63A-C58FC920A150}" dt="2025-05-06T21:34:00.234" v="20" actId="478"/>
      <pc:docMkLst>
        <pc:docMk/>
      </pc:docMkLst>
      <pc:sldChg chg="delSp mod">
        <pc:chgData name="An Ly Minh" userId="901a9585-0bad-4e98-9c58-38fecc165e20" providerId="ADAL" clId="{2367B433-7769-4248-B63A-C58FC920A150}" dt="2025-05-06T21:32:41.691" v="4" actId="478"/>
        <pc:sldMkLst>
          <pc:docMk/>
          <pc:sldMk cId="3280063346" sldId="406"/>
        </pc:sldMkLst>
        <pc:spChg chg="del">
          <ac:chgData name="An Ly Minh" userId="901a9585-0bad-4e98-9c58-38fecc165e20" providerId="ADAL" clId="{2367B433-7769-4248-B63A-C58FC920A150}" dt="2025-05-06T21:32:40.939" v="3" actId="478"/>
          <ac:spMkLst>
            <pc:docMk/>
            <pc:sldMk cId="3280063346" sldId="406"/>
            <ac:spMk id="15" creationId="{47A36B10-D332-4B46-A481-934165013286}"/>
          </ac:spMkLst>
        </pc:spChg>
        <pc:picChg chg="del">
          <ac:chgData name="An Ly Minh" userId="901a9585-0bad-4e98-9c58-38fecc165e20" providerId="ADAL" clId="{2367B433-7769-4248-B63A-C58FC920A150}" dt="2025-05-06T21:32:41.691" v="4" actId="478"/>
          <ac:picMkLst>
            <pc:docMk/>
            <pc:sldMk cId="3280063346" sldId="406"/>
            <ac:picMk id="14" creationId="{29820CCA-50E8-4294-AE83-369DD8759D37}"/>
          </ac:picMkLst>
        </pc:picChg>
      </pc:sldChg>
      <pc:sldChg chg="mod modShow">
        <pc:chgData name="An Ly Minh" userId="901a9585-0bad-4e98-9c58-38fecc165e20" providerId="ADAL" clId="{2367B433-7769-4248-B63A-C58FC920A150}" dt="2025-05-06T21:32:46.452" v="5" actId="729"/>
        <pc:sldMkLst>
          <pc:docMk/>
          <pc:sldMk cId="870329031" sldId="408"/>
        </pc:sldMkLst>
      </pc:sldChg>
      <pc:sldChg chg="mod modShow">
        <pc:chgData name="An Ly Minh" userId="901a9585-0bad-4e98-9c58-38fecc165e20" providerId="ADAL" clId="{2367B433-7769-4248-B63A-C58FC920A150}" dt="2025-05-06T21:32:49.060" v="6" actId="729"/>
        <pc:sldMkLst>
          <pc:docMk/>
          <pc:sldMk cId="1165392329" sldId="409"/>
        </pc:sldMkLst>
      </pc:sldChg>
      <pc:sldChg chg="mod modShow">
        <pc:chgData name="An Ly Minh" userId="901a9585-0bad-4e98-9c58-38fecc165e20" providerId="ADAL" clId="{2367B433-7769-4248-B63A-C58FC920A150}" dt="2025-05-06T21:33:15.356" v="9" actId="729"/>
        <pc:sldMkLst>
          <pc:docMk/>
          <pc:sldMk cId="3432616551" sldId="424"/>
        </pc:sldMkLst>
      </pc:sldChg>
      <pc:sldChg chg="mod modShow">
        <pc:chgData name="An Ly Minh" userId="901a9585-0bad-4e98-9c58-38fecc165e20" providerId="ADAL" clId="{2367B433-7769-4248-B63A-C58FC920A150}" dt="2025-05-06T21:33:20.089" v="10" actId="729"/>
        <pc:sldMkLst>
          <pc:docMk/>
          <pc:sldMk cId="1566841818" sldId="425"/>
        </pc:sldMkLst>
      </pc:sldChg>
      <pc:sldChg chg="mod modShow">
        <pc:chgData name="An Ly Minh" userId="901a9585-0bad-4e98-9c58-38fecc165e20" providerId="ADAL" clId="{2367B433-7769-4248-B63A-C58FC920A150}" dt="2025-05-06T21:33:23.731" v="11" actId="729"/>
        <pc:sldMkLst>
          <pc:docMk/>
          <pc:sldMk cId="3254288609" sldId="426"/>
        </pc:sldMkLst>
      </pc:sldChg>
      <pc:sldChg chg="mod modShow">
        <pc:chgData name="An Ly Minh" userId="901a9585-0bad-4e98-9c58-38fecc165e20" providerId="ADAL" clId="{2367B433-7769-4248-B63A-C58FC920A150}" dt="2025-05-06T21:33:26.714" v="12" actId="729"/>
        <pc:sldMkLst>
          <pc:docMk/>
          <pc:sldMk cId="3577375952" sldId="427"/>
        </pc:sldMkLst>
      </pc:sldChg>
      <pc:sldChg chg="mod modShow">
        <pc:chgData name="An Ly Minh" userId="901a9585-0bad-4e98-9c58-38fecc165e20" providerId="ADAL" clId="{2367B433-7769-4248-B63A-C58FC920A150}" dt="2025-05-06T21:33:29.523" v="13" actId="729"/>
        <pc:sldMkLst>
          <pc:docMk/>
          <pc:sldMk cId="3964139614" sldId="428"/>
        </pc:sldMkLst>
      </pc:sldChg>
      <pc:sldChg chg="mod modShow">
        <pc:chgData name="An Ly Minh" userId="901a9585-0bad-4e98-9c58-38fecc165e20" providerId="ADAL" clId="{2367B433-7769-4248-B63A-C58FC920A150}" dt="2025-05-06T21:33:33.846" v="14" actId="729"/>
        <pc:sldMkLst>
          <pc:docMk/>
          <pc:sldMk cId="183312051" sldId="429"/>
        </pc:sldMkLst>
      </pc:sldChg>
      <pc:sldChg chg="mod modShow">
        <pc:chgData name="An Ly Minh" userId="901a9585-0bad-4e98-9c58-38fecc165e20" providerId="ADAL" clId="{2367B433-7769-4248-B63A-C58FC920A150}" dt="2025-05-06T21:33:37.959" v="15" actId="729"/>
        <pc:sldMkLst>
          <pc:docMk/>
          <pc:sldMk cId="1535510528" sldId="430"/>
        </pc:sldMkLst>
      </pc:sldChg>
      <pc:sldChg chg="mod modShow">
        <pc:chgData name="An Ly Minh" userId="901a9585-0bad-4e98-9c58-38fecc165e20" providerId="ADAL" clId="{2367B433-7769-4248-B63A-C58FC920A150}" dt="2025-05-06T21:33:41.317" v="16" actId="729"/>
        <pc:sldMkLst>
          <pc:docMk/>
          <pc:sldMk cId="2610048980" sldId="431"/>
        </pc:sldMkLst>
      </pc:sldChg>
      <pc:sldChg chg="delSp modSp mod">
        <pc:chgData name="An Ly Minh" userId="901a9585-0bad-4e98-9c58-38fecc165e20" providerId="ADAL" clId="{2367B433-7769-4248-B63A-C58FC920A150}" dt="2025-05-06T21:32:37.508" v="2" actId="478"/>
        <pc:sldMkLst>
          <pc:docMk/>
          <pc:sldMk cId="3215379390" sldId="455"/>
        </pc:sldMkLst>
        <pc:spChg chg="del mod">
          <ac:chgData name="An Ly Minh" userId="901a9585-0bad-4e98-9c58-38fecc165e20" providerId="ADAL" clId="{2367B433-7769-4248-B63A-C58FC920A150}" dt="2025-05-06T21:32:37.508" v="2" actId="478"/>
          <ac:spMkLst>
            <pc:docMk/>
            <pc:sldMk cId="3215379390" sldId="455"/>
            <ac:spMk id="25" creationId="{FBB3C092-B9B2-4FD6-BBB5-811A554985CA}"/>
          </ac:spMkLst>
        </pc:spChg>
        <pc:picChg chg="del">
          <ac:chgData name="An Ly Minh" userId="901a9585-0bad-4e98-9c58-38fecc165e20" providerId="ADAL" clId="{2367B433-7769-4248-B63A-C58FC920A150}" dt="2025-05-06T21:32:33.936" v="0" actId="478"/>
          <ac:picMkLst>
            <pc:docMk/>
            <pc:sldMk cId="3215379390" sldId="455"/>
            <ac:picMk id="24" creationId="{5CCC4E1F-AF3F-4F3D-85CA-8D6302554137}"/>
          </ac:picMkLst>
        </pc:picChg>
      </pc:sldChg>
      <pc:sldChg chg="mod modShow">
        <pc:chgData name="An Ly Minh" userId="901a9585-0bad-4e98-9c58-38fecc165e20" providerId="ADAL" clId="{2367B433-7769-4248-B63A-C58FC920A150}" dt="2025-05-06T21:33:00.882" v="7" actId="729"/>
        <pc:sldMkLst>
          <pc:docMk/>
          <pc:sldMk cId="2324719737" sldId="466"/>
        </pc:sldMkLst>
      </pc:sldChg>
      <pc:sldChg chg="mod modShow">
        <pc:chgData name="An Ly Minh" userId="901a9585-0bad-4e98-9c58-38fecc165e20" providerId="ADAL" clId="{2367B433-7769-4248-B63A-C58FC920A150}" dt="2025-05-06T21:33:04.333" v="8" actId="729"/>
        <pc:sldMkLst>
          <pc:docMk/>
          <pc:sldMk cId="1496875562" sldId="467"/>
        </pc:sldMkLst>
      </pc:sldChg>
      <pc:sldChg chg="delSp mod">
        <pc:chgData name="An Ly Minh" userId="901a9585-0bad-4e98-9c58-38fecc165e20" providerId="ADAL" clId="{2367B433-7769-4248-B63A-C58FC920A150}" dt="2025-05-06T21:33:45.147" v="18" actId="478"/>
        <pc:sldMkLst>
          <pc:docMk/>
          <pc:sldMk cId="1407044473" sldId="470"/>
        </pc:sldMkLst>
        <pc:spChg chg="del">
          <ac:chgData name="An Ly Minh" userId="901a9585-0bad-4e98-9c58-38fecc165e20" providerId="ADAL" clId="{2367B433-7769-4248-B63A-C58FC920A150}" dt="2025-05-06T21:33:45.147" v="18" actId="478"/>
          <ac:spMkLst>
            <pc:docMk/>
            <pc:sldMk cId="1407044473" sldId="470"/>
            <ac:spMk id="15" creationId="{47A36B10-D332-4B46-A481-934165013286}"/>
          </ac:spMkLst>
        </pc:spChg>
        <pc:picChg chg="del">
          <ac:chgData name="An Ly Minh" userId="901a9585-0bad-4e98-9c58-38fecc165e20" providerId="ADAL" clId="{2367B433-7769-4248-B63A-C58FC920A150}" dt="2025-05-06T21:33:43.469" v="17" actId="478"/>
          <ac:picMkLst>
            <pc:docMk/>
            <pc:sldMk cId="1407044473" sldId="470"/>
            <ac:picMk id="14" creationId="{29820CCA-50E8-4294-AE83-369DD8759D37}"/>
          </ac:picMkLst>
        </pc:picChg>
      </pc:sldChg>
      <pc:sldChg chg="delSp mod">
        <pc:chgData name="An Ly Minh" userId="901a9585-0bad-4e98-9c58-38fecc165e20" providerId="ADAL" clId="{2367B433-7769-4248-B63A-C58FC920A150}" dt="2025-05-06T21:34:00.234" v="20" actId="478"/>
        <pc:sldMkLst>
          <pc:docMk/>
          <pc:sldMk cId="3746265436" sldId="471"/>
        </pc:sldMkLst>
        <pc:spChg chg="del">
          <ac:chgData name="An Ly Minh" userId="901a9585-0bad-4e98-9c58-38fecc165e20" providerId="ADAL" clId="{2367B433-7769-4248-B63A-C58FC920A150}" dt="2025-05-06T21:34:00.234" v="20" actId="478"/>
          <ac:spMkLst>
            <pc:docMk/>
            <pc:sldMk cId="3746265436" sldId="471"/>
            <ac:spMk id="15" creationId="{47A36B10-D332-4B46-A481-934165013286}"/>
          </ac:spMkLst>
        </pc:spChg>
        <pc:picChg chg="del">
          <ac:chgData name="An Ly Minh" userId="901a9585-0bad-4e98-9c58-38fecc165e20" providerId="ADAL" clId="{2367B433-7769-4248-B63A-C58FC920A150}" dt="2025-05-06T21:33:58.790" v="19" actId="478"/>
          <ac:picMkLst>
            <pc:docMk/>
            <pc:sldMk cId="3746265436" sldId="471"/>
            <ac:picMk id="14" creationId="{29820CCA-50E8-4294-AE83-369DD8759D37}"/>
          </ac:picMkLst>
        </pc:picChg>
      </pc:sldChg>
    </pc:docChg>
  </pc:docChgLst>
  <pc:docChgLst>
    <pc:chgData name="Vu Nguyen Dang" userId="S::vu.nguyendang@orientsoftware.com::fb731e66-d451-4bd8-bf8d-753865408b3a" providerId="AD" clId="Web-{C2B9756D-C8FE-7507-EA20-F4ACF37CC943}"/>
    <pc:docChg chg="mod">
      <pc:chgData name="Vu Nguyen Dang" userId="S::vu.nguyendang@orientsoftware.com::fb731e66-d451-4bd8-bf8d-753865408b3a" providerId="AD" clId="Web-{C2B9756D-C8FE-7507-EA20-F4ACF37CC943}" dt="2022-07-26T08:54:48.203" v="0" actId="33475"/>
      <pc:docMkLst>
        <pc:docMk/>
      </pc:docMkLst>
    </pc:docChg>
  </pc:docChgLst>
  <pc:docChgLst>
    <pc:chgData name="Thanh Ho Hoang" userId="bdaa2ca6-9388-4c5e-9437-595bc402494c" providerId="ADAL" clId="{E1CEDDCC-9B9A-4633-BBFA-AA7AA9B2AD42}"/>
    <pc:docChg chg="undo custSel addSld delSld modSld sldOrd modMainMaster modSection">
      <pc:chgData name="Thanh Ho Hoang" userId="bdaa2ca6-9388-4c5e-9437-595bc402494c" providerId="ADAL" clId="{E1CEDDCC-9B9A-4633-BBFA-AA7AA9B2AD42}" dt="2021-12-29T10:32:34.620" v="753" actId="478"/>
      <pc:docMkLst>
        <pc:docMk/>
      </pc:docMkLst>
      <pc:sldChg chg="addSp delSp modSp">
        <pc:chgData name="Thanh Ho Hoang" userId="bdaa2ca6-9388-4c5e-9437-595bc402494c" providerId="ADAL" clId="{E1CEDDCC-9B9A-4633-BBFA-AA7AA9B2AD42}" dt="2021-12-29T09:07:12.968" v="208" actId="2711"/>
        <pc:sldMkLst>
          <pc:docMk/>
          <pc:sldMk cId="1111368213" sldId="404"/>
        </pc:sldMkLst>
      </pc:sldChg>
      <pc:sldChg chg="del">
        <pc:chgData name="Thanh Ho Hoang" userId="bdaa2ca6-9388-4c5e-9437-595bc402494c" providerId="ADAL" clId="{E1CEDDCC-9B9A-4633-BBFA-AA7AA9B2AD42}" dt="2021-12-29T08:14:42.661" v="47" actId="2696"/>
        <pc:sldMkLst>
          <pc:docMk/>
          <pc:sldMk cId="1521071521" sldId="405"/>
        </pc:sldMkLst>
      </pc:sldChg>
      <pc:sldChg chg="addSp delSp modSp">
        <pc:chgData name="Thanh Ho Hoang" userId="bdaa2ca6-9388-4c5e-9437-595bc402494c" providerId="ADAL" clId="{E1CEDDCC-9B9A-4633-BBFA-AA7AA9B2AD42}" dt="2021-12-29T09:04:35.974" v="201" actId="207"/>
        <pc:sldMkLst>
          <pc:docMk/>
          <pc:sldMk cId="3280063346" sldId="406"/>
        </pc:sldMkLst>
      </pc:sldChg>
      <pc:sldChg chg="addSp delSp modSp">
        <pc:chgData name="Thanh Ho Hoang" userId="bdaa2ca6-9388-4c5e-9437-595bc402494c" providerId="ADAL" clId="{E1CEDDCC-9B9A-4633-BBFA-AA7AA9B2AD42}" dt="2021-12-29T09:08:33.984" v="216" actId="1076"/>
        <pc:sldMkLst>
          <pc:docMk/>
          <pc:sldMk cId="1067758564" sldId="407"/>
        </pc:sldMkLst>
      </pc:sldChg>
      <pc:sldChg chg="addSp delSp modSp">
        <pc:chgData name="Thanh Ho Hoang" userId="bdaa2ca6-9388-4c5e-9437-595bc402494c" providerId="ADAL" clId="{E1CEDDCC-9B9A-4633-BBFA-AA7AA9B2AD42}" dt="2021-12-29T09:11:18.996" v="227" actId="1076"/>
        <pc:sldMkLst>
          <pc:docMk/>
          <pc:sldMk cId="870329031" sldId="408"/>
        </pc:sldMkLst>
      </pc:sldChg>
      <pc:sldChg chg="addSp delSp modSp">
        <pc:chgData name="Thanh Ho Hoang" userId="bdaa2ca6-9388-4c5e-9437-595bc402494c" providerId="ADAL" clId="{E1CEDDCC-9B9A-4633-BBFA-AA7AA9B2AD42}" dt="2021-12-29T09:13:16.011" v="236" actId="2711"/>
        <pc:sldMkLst>
          <pc:docMk/>
          <pc:sldMk cId="1165392329" sldId="409"/>
        </pc:sldMkLst>
      </pc:sldChg>
      <pc:sldChg chg="addSp delSp modSp delAnim">
        <pc:chgData name="Thanh Ho Hoang" userId="bdaa2ca6-9388-4c5e-9437-595bc402494c" providerId="ADAL" clId="{E1CEDDCC-9B9A-4633-BBFA-AA7AA9B2AD42}" dt="2021-12-29T09:17:37.297" v="253" actId="1076"/>
        <pc:sldMkLst>
          <pc:docMk/>
          <pc:sldMk cId="1427894148" sldId="410"/>
        </pc:sldMkLst>
      </pc:sldChg>
      <pc:sldChg chg="addSp delSp modSp">
        <pc:chgData name="Thanh Ho Hoang" userId="bdaa2ca6-9388-4c5e-9437-595bc402494c" providerId="ADAL" clId="{E1CEDDCC-9B9A-4633-BBFA-AA7AA9B2AD42}" dt="2021-12-29T09:18:19.327" v="262" actId="1076"/>
        <pc:sldMkLst>
          <pc:docMk/>
          <pc:sldMk cId="349277270" sldId="411"/>
        </pc:sldMkLst>
      </pc:sldChg>
      <pc:sldChg chg="addSp delSp modSp">
        <pc:chgData name="Thanh Ho Hoang" userId="bdaa2ca6-9388-4c5e-9437-595bc402494c" providerId="ADAL" clId="{E1CEDDCC-9B9A-4633-BBFA-AA7AA9B2AD42}" dt="2021-12-29T09:23:54.892" v="335" actId="6549"/>
        <pc:sldMkLst>
          <pc:docMk/>
          <pc:sldMk cId="2968193613" sldId="412"/>
        </pc:sldMkLst>
      </pc:sldChg>
      <pc:sldChg chg="addSp delSp modSp">
        <pc:chgData name="Thanh Ho Hoang" userId="bdaa2ca6-9388-4c5e-9437-595bc402494c" providerId="ADAL" clId="{E1CEDDCC-9B9A-4633-BBFA-AA7AA9B2AD42}" dt="2021-12-29T09:23:49.083" v="332" actId="20577"/>
        <pc:sldMkLst>
          <pc:docMk/>
          <pc:sldMk cId="1492333361" sldId="413"/>
        </pc:sldMkLst>
      </pc:sldChg>
      <pc:sldChg chg="addSp delSp modSp">
        <pc:chgData name="Thanh Ho Hoang" userId="bdaa2ca6-9388-4c5e-9437-595bc402494c" providerId="ADAL" clId="{E1CEDDCC-9B9A-4633-BBFA-AA7AA9B2AD42}" dt="2021-12-29T09:24:33.022" v="341" actId="207"/>
        <pc:sldMkLst>
          <pc:docMk/>
          <pc:sldMk cId="692614687" sldId="414"/>
        </pc:sldMkLst>
      </pc:sldChg>
      <pc:sldChg chg="addSp delSp modSp">
        <pc:chgData name="Thanh Ho Hoang" userId="bdaa2ca6-9388-4c5e-9437-595bc402494c" providerId="ADAL" clId="{E1CEDDCC-9B9A-4633-BBFA-AA7AA9B2AD42}" dt="2021-12-29T09:25:50.417" v="348" actId="1076"/>
        <pc:sldMkLst>
          <pc:docMk/>
          <pc:sldMk cId="2162831893" sldId="415"/>
        </pc:sldMkLst>
      </pc:sldChg>
      <pc:sldChg chg="addSp delSp modSp">
        <pc:chgData name="Thanh Ho Hoang" userId="bdaa2ca6-9388-4c5e-9437-595bc402494c" providerId="ADAL" clId="{E1CEDDCC-9B9A-4633-BBFA-AA7AA9B2AD42}" dt="2021-12-29T09:26:15.605" v="360" actId="20577"/>
        <pc:sldMkLst>
          <pc:docMk/>
          <pc:sldMk cId="431143146" sldId="416"/>
        </pc:sldMkLst>
      </pc:sldChg>
      <pc:sldChg chg="addSp delSp modSp">
        <pc:chgData name="Thanh Ho Hoang" userId="bdaa2ca6-9388-4c5e-9437-595bc402494c" providerId="ADAL" clId="{E1CEDDCC-9B9A-4633-BBFA-AA7AA9B2AD42}" dt="2021-12-29T09:28:36.738" v="364"/>
        <pc:sldMkLst>
          <pc:docMk/>
          <pc:sldMk cId="2044015569" sldId="417"/>
        </pc:sldMkLst>
      </pc:sldChg>
      <pc:sldChg chg="addSp delSp modSp">
        <pc:chgData name="Thanh Ho Hoang" userId="bdaa2ca6-9388-4c5e-9437-595bc402494c" providerId="ADAL" clId="{E1CEDDCC-9B9A-4633-BBFA-AA7AA9B2AD42}" dt="2021-12-29T09:41:37.871" v="415" actId="478"/>
        <pc:sldMkLst>
          <pc:docMk/>
          <pc:sldMk cId="3744995112" sldId="418"/>
        </pc:sldMkLst>
      </pc:sldChg>
      <pc:sldChg chg="addSp delSp modSp">
        <pc:chgData name="Thanh Ho Hoang" userId="bdaa2ca6-9388-4c5e-9437-595bc402494c" providerId="ADAL" clId="{E1CEDDCC-9B9A-4633-BBFA-AA7AA9B2AD42}" dt="2021-12-29T09:34:10.739" v="378" actId="1076"/>
        <pc:sldMkLst>
          <pc:docMk/>
          <pc:sldMk cId="3008878442" sldId="419"/>
        </pc:sldMkLst>
      </pc:sldChg>
      <pc:sldChg chg="addSp delSp modSp">
        <pc:chgData name="Thanh Ho Hoang" userId="bdaa2ca6-9388-4c5e-9437-595bc402494c" providerId="ADAL" clId="{E1CEDDCC-9B9A-4633-BBFA-AA7AA9B2AD42}" dt="2021-12-29T09:35:28.135" v="387" actId="20577"/>
        <pc:sldMkLst>
          <pc:docMk/>
          <pc:sldMk cId="2558965940" sldId="420"/>
        </pc:sldMkLst>
      </pc:sldChg>
      <pc:sldChg chg="addSp delSp modSp">
        <pc:chgData name="Thanh Ho Hoang" userId="bdaa2ca6-9388-4c5e-9437-595bc402494c" providerId="ADAL" clId="{E1CEDDCC-9B9A-4633-BBFA-AA7AA9B2AD42}" dt="2021-12-29T09:41:29.362" v="414" actId="478"/>
        <pc:sldMkLst>
          <pc:docMk/>
          <pc:sldMk cId="3681712510" sldId="421"/>
        </pc:sldMkLst>
      </pc:sldChg>
      <pc:sldChg chg="delSp modSp modTransition">
        <pc:chgData name="Thanh Ho Hoang" userId="bdaa2ca6-9388-4c5e-9437-595bc402494c" providerId="ADAL" clId="{E1CEDDCC-9B9A-4633-BBFA-AA7AA9B2AD42}" dt="2021-12-29T10:06:30.679" v="483"/>
        <pc:sldMkLst>
          <pc:docMk/>
          <pc:sldMk cId="3432616551" sldId="424"/>
        </pc:sldMkLst>
      </pc:sldChg>
      <pc:sldChg chg="delSp modSp modTransition">
        <pc:chgData name="Thanh Ho Hoang" userId="bdaa2ca6-9388-4c5e-9437-595bc402494c" providerId="ADAL" clId="{E1CEDDCC-9B9A-4633-BBFA-AA7AA9B2AD42}" dt="2021-12-29T10:06:37.362" v="484"/>
        <pc:sldMkLst>
          <pc:docMk/>
          <pc:sldMk cId="1566841818" sldId="425"/>
        </pc:sldMkLst>
      </pc:sldChg>
      <pc:sldChg chg="delSp modSp modTransition">
        <pc:chgData name="Thanh Ho Hoang" userId="bdaa2ca6-9388-4c5e-9437-595bc402494c" providerId="ADAL" clId="{E1CEDDCC-9B9A-4633-BBFA-AA7AA9B2AD42}" dt="2021-12-29T10:06:41.453" v="485"/>
        <pc:sldMkLst>
          <pc:docMk/>
          <pc:sldMk cId="3254288609" sldId="426"/>
        </pc:sldMkLst>
      </pc:sldChg>
      <pc:sldChg chg="delSp modSp modTransition">
        <pc:chgData name="Thanh Ho Hoang" userId="bdaa2ca6-9388-4c5e-9437-595bc402494c" providerId="ADAL" clId="{E1CEDDCC-9B9A-4633-BBFA-AA7AA9B2AD42}" dt="2021-12-29T10:06:43.920" v="486"/>
        <pc:sldMkLst>
          <pc:docMk/>
          <pc:sldMk cId="3577375952" sldId="427"/>
        </pc:sldMkLst>
      </pc:sldChg>
      <pc:sldChg chg="delSp modTransition">
        <pc:chgData name="Thanh Ho Hoang" userId="bdaa2ca6-9388-4c5e-9437-595bc402494c" providerId="ADAL" clId="{E1CEDDCC-9B9A-4633-BBFA-AA7AA9B2AD42}" dt="2021-12-29T10:07:20.248" v="492" actId="478"/>
        <pc:sldMkLst>
          <pc:docMk/>
          <pc:sldMk cId="3964139614" sldId="428"/>
        </pc:sldMkLst>
      </pc:sldChg>
      <pc:sldChg chg="delSp modTransition">
        <pc:chgData name="Thanh Ho Hoang" userId="bdaa2ca6-9388-4c5e-9437-595bc402494c" providerId="ADAL" clId="{E1CEDDCC-9B9A-4633-BBFA-AA7AA9B2AD42}" dt="2021-12-29T10:07:00.140" v="489" actId="478"/>
        <pc:sldMkLst>
          <pc:docMk/>
          <pc:sldMk cId="183312051" sldId="429"/>
        </pc:sldMkLst>
      </pc:sldChg>
      <pc:sldChg chg="addSp delSp modSp modTransition">
        <pc:chgData name="Thanh Ho Hoang" userId="bdaa2ca6-9388-4c5e-9437-595bc402494c" providerId="ADAL" clId="{E1CEDDCC-9B9A-4633-BBFA-AA7AA9B2AD42}" dt="2021-12-29T10:27:34.826" v="677" actId="478"/>
        <pc:sldMkLst>
          <pc:docMk/>
          <pc:sldMk cId="1535510528" sldId="430"/>
        </pc:sldMkLst>
      </pc:sldChg>
      <pc:sldChg chg="delSp modTransition">
        <pc:chgData name="Thanh Ho Hoang" userId="bdaa2ca6-9388-4c5e-9437-595bc402494c" providerId="ADAL" clId="{E1CEDDCC-9B9A-4633-BBFA-AA7AA9B2AD42}" dt="2021-12-29T10:27:32.146" v="676" actId="478"/>
        <pc:sldMkLst>
          <pc:docMk/>
          <pc:sldMk cId="2610048980" sldId="431"/>
        </pc:sldMkLst>
      </pc:sldChg>
      <pc:sldChg chg="delSp modSp del delAnim modAnim">
        <pc:chgData name="Thanh Ho Hoang" userId="bdaa2ca6-9388-4c5e-9437-595bc402494c" providerId="ADAL" clId="{E1CEDDCC-9B9A-4633-BBFA-AA7AA9B2AD42}" dt="2021-12-29T10:08:28.453" v="521" actId="2696"/>
        <pc:sldMkLst>
          <pc:docMk/>
          <pc:sldMk cId="3203905270" sldId="432"/>
        </pc:sldMkLst>
      </pc:sldChg>
      <pc:sldChg chg="addSp delSp modSp">
        <pc:chgData name="Thanh Ho Hoang" userId="bdaa2ca6-9388-4c5e-9437-595bc402494c" providerId="ADAL" clId="{E1CEDDCC-9B9A-4633-BBFA-AA7AA9B2AD42}" dt="2021-12-29T10:27:29.366" v="675" actId="478"/>
        <pc:sldMkLst>
          <pc:docMk/>
          <pc:sldMk cId="1821410689" sldId="433"/>
        </pc:sldMkLst>
      </pc:sldChg>
      <pc:sldChg chg="addSp delSp modSp">
        <pc:chgData name="Thanh Ho Hoang" userId="bdaa2ca6-9388-4c5e-9437-595bc402494c" providerId="ADAL" clId="{E1CEDDCC-9B9A-4633-BBFA-AA7AA9B2AD42}" dt="2021-12-29T10:27:25.513" v="674" actId="478"/>
        <pc:sldMkLst>
          <pc:docMk/>
          <pc:sldMk cId="4026943415" sldId="434"/>
        </pc:sldMkLst>
      </pc:sldChg>
      <pc:sldChg chg="addSp delSp modSp">
        <pc:chgData name="Thanh Ho Hoang" userId="bdaa2ca6-9388-4c5e-9437-595bc402494c" providerId="ADAL" clId="{E1CEDDCC-9B9A-4633-BBFA-AA7AA9B2AD42}" dt="2021-12-29T10:27:22.265" v="673" actId="478"/>
        <pc:sldMkLst>
          <pc:docMk/>
          <pc:sldMk cId="645132256" sldId="435"/>
        </pc:sldMkLst>
      </pc:sldChg>
      <pc:sldChg chg="addSp delSp modSp">
        <pc:chgData name="Thanh Ho Hoang" userId="bdaa2ca6-9388-4c5e-9437-595bc402494c" providerId="ADAL" clId="{E1CEDDCC-9B9A-4633-BBFA-AA7AA9B2AD42}" dt="2021-12-29T10:16:58.743" v="577" actId="20577"/>
        <pc:sldMkLst>
          <pc:docMk/>
          <pc:sldMk cId="2186101402" sldId="436"/>
        </pc:sldMkLst>
      </pc:sldChg>
      <pc:sldChg chg="delSp modSp del">
        <pc:chgData name="Thanh Ho Hoang" userId="bdaa2ca6-9388-4c5e-9437-595bc402494c" providerId="ADAL" clId="{E1CEDDCC-9B9A-4633-BBFA-AA7AA9B2AD42}" dt="2021-12-29T10:18:58.844" v="611" actId="2696"/>
        <pc:sldMkLst>
          <pc:docMk/>
          <pc:sldMk cId="4120421355" sldId="437"/>
        </pc:sldMkLst>
      </pc:sldChg>
      <pc:sldChg chg="addSp delSp modSp">
        <pc:chgData name="Thanh Ho Hoang" userId="bdaa2ca6-9388-4c5e-9437-595bc402494c" providerId="ADAL" clId="{E1CEDDCC-9B9A-4633-BBFA-AA7AA9B2AD42}" dt="2021-12-29T10:27:18.038" v="672" actId="478"/>
        <pc:sldMkLst>
          <pc:docMk/>
          <pc:sldMk cId="3913421544" sldId="438"/>
        </pc:sldMkLst>
      </pc:sldChg>
      <pc:sldChg chg="addSp delSp modSp">
        <pc:chgData name="Thanh Ho Hoang" userId="bdaa2ca6-9388-4c5e-9437-595bc402494c" providerId="ADAL" clId="{E1CEDDCC-9B9A-4633-BBFA-AA7AA9B2AD42}" dt="2021-12-29T10:27:15.372" v="671" actId="478"/>
        <pc:sldMkLst>
          <pc:docMk/>
          <pc:sldMk cId="2111474066" sldId="439"/>
        </pc:sldMkLst>
      </pc:sldChg>
      <pc:sldChg chg="modSp del">
        <pc:chgData name="Thanh Ho Hoang" userId="bdaa2ca6-9388-4c5e-9437-595bc402494c" providerId="ADAL" clId="{E1CEDDCC-9B9A-4633-BBFA-AA7AA9B2AD42}" dt="2021-12-29T08:11:06.803" v="20" actId="2696"/>
        <pc:sldMkLst>
          <pc:docMk/>
          <pc:sldMk cId="166206637" sldId="440"/>
        </pc:sldMkLst>
      </pc:sldChg>
      <pc:sldChg chg="addSp delSp modSp">
        <pc:chgData name="Thanh Ho Hoang" userId="bdaa2ca6-9388-4c5e-9437-595bc402494c" providerId="ADAL" clId="{E1CEDDCC-9B9A-4633-BBFA-AA7AA9B2AD42}" dt="2021-12-29T10:27:12.683" v="670" actId="478"/>
        <pc:sldMkLst>
          <pc:docMk/>
          <pc:sldMk cId="1233484786" sldId="441"/>
        </pc:sldMkLst>
      </pc:sldChg>
      <pc:sldChg chg="addSp delSp modSp">
        <pc:chgData name="Thanh Ho Hoang" userId="bdaa2ca6-9388-4c5e-9437-595bc402494c" providerId="ADAL" clId="{E1CEDDCC-9B9A-4633-BBFA-AA7AA9B2AD42}" dt="2021-12-29T10:27:10.535" v="669" actId="478"/>
        <pc:sldMkLst>
          <pc:docMk/>
          <pc:sldMk cId="2704485313" sldId="442"/>
        </pc:sldMkLst>
      </pc:sldChg>
      <pc:sldChg chg="addSp delSp modSp">
        <pc:chgData name="Thanh Ho Hoang" userId="bdaa2ca6-9388-4c5e-9437-595bc402494c" providerId="ADAL" clId="{E1CEDDCC-9B9A-4633-BBFA-AA7AA9B2AD42}" dt="2021-12-29T10:28:19.829" v="696" actId="1076"/>
        <pc:sldMkLst>
          <pc:docMk/>
          <pc:sldMk cId="4188464997" sldId="443"/>
        </pc:sldMkLst>
      </pc:sldChg>
      <pc:sldChg chg="addSp delSp modSp">
        <pc:chgData name="Thanh Ho Hoang" userId="bdaa2ca6-9388-4c5e-9437-595bc402494c" providerId="ADAL" clId="{E1CEDDCC-9B9A-4633-BBFA-AA7AA9B2AD42}" dt="2021-12-29T10:30:02.678" v="712" actId="1076"/>
        <pc:sldMkLst>
          <pc:docMk/>
          <pc:sldMk cId="1219811457" sldId="444"/>
        </pc:sldMkLst>
      </pc:sldChg>
      <pc:sldChg chg="addSp delSp modSp">
        <pc:chgData name="Thanh Ho Hoang" userId="bdaa2ca6-9388-4c5e-9437-595bc402494c" providerId="ADAL" clId="{E1CEDDCC-9B9A-4633-BBFA-AA7AA9B2AD42}" dt="2021-12-29T10:32:16.552" v="735" actId="20577"/>
        <pc:sldMkLst>
          <pc:docMk/>
          <pc:sldMk cId="2292571116" sldId="445"/>
        </pc:sldMkLst>
      </pc:sldChg>
      <pc:sldChg chg="modSp del">
        <pc:chgData name="Thanh Ho Hoang" userId="bdaa2ca6-9388-4c5e-9437-595bc402494c" providerId="ADAL" clId="{E1CEDDCC-9B9A-4633-BBFA-AA7AA9B2AD42}" dt="2021-12-29T08:10:23.175" v="18" actId="2696"/>
        <pc:sldMkLst>
          <pc:docMk/>
          <pc:sldMk cId="3887460584" sldId="446"/>
        </pc:sldMkLst>
      </pc:sldChg>
      <pc:sldChg chg="addSp delSp modSp">
        <pc:chgData name="Thanh Ho Hoang" userId="bdaa2ca6-9388-4c5e-9437-595bc402494c" providerId="ADAL" clId="{E1CEDDCC-9B9A-4633-BBFA-AA7AA9B2AD42}" dt="2021-12-29T10:32:34.620" v="753" actId="478"/>
        <pc:sldMkLst>
          <pc:docMk/>
          <pc:sldMk cId="1730650542" sldId="447"/>
        </pc:sldMkLst>
      </pc:sldChg>
      <pc:sldChg chg="del">
        <pc:chgData name="Thanh Ho Hoang" userId="bdaa2ca6-9388-4c5e-9437-595bc402494c" providerId="ADAL" clId="{E1CEDDCC-9B9A-4633-BBFA-AA7AA9B2AD42}" dt="2021-12-29T08:08:27.463" v="2" actId="2696"/>
        <pc:sldMkLst>
          <pc:docMk/>
          <pc:sldMk cId="375378606" sldId="448"/>
        </pc:sldMkLst>
      </pc:sldChg>
      <pc:sldChg chg="addSp delSp modSp">
        <pc:chgData name="Thanh Ho Hoang" userId="bdaa2ca6-9388-4c5e-9437-595bc402494c" providerId="ADAL" clId="{E1CEDDCC-9B9A-4633-BBFA-AA7AA9B2AD42}" dt="2021-12-29T09:03:19.902" v="186" actId="20577"/>
        <pc:sldMkLst>
          <pc:docMk/>
          <pc:sldMk cId="3215379390" sldId="455"/>
        </pc:sldMkLst>
      </pc:sldChg>
      <pc:sldChg chg="addSp delSp modSp">
        <pc:chgData name="Thanh Ho Hoang" userId="bdaa2ca6-9388-4c5e-9437-595bc402494c" providerId="ADAL" clId="{E1CEDDCC-9B9A-4633-BBFA-AA7AA9B2AD42}" dt="2021-12-29T09:41:27.134" v="413" actId="478"/>
        <pc:sldMkLst>
          <pc:docMk/>
          <pc:sldMk cId="572941400" sldId="456"/>
        </pc:sldMkLst>
      </pc:sldChg>
      <pc:sldChg chg="addSp delSp modSp">
        <pc:chgData name="Thanh Ho Hoang" userId="bdaa2ca6-9388-4c5e-9437-595bc402494c" providerId="ADAL" clId="{E1CEDDCC-9B9A-4633-BBFA-AA7AA9B2AD42}" dt="2021-12-29T09:42:01.727" v="420" actId="1076"/>
        <pc:sldMkLst>
          <pc:docMk/>
          <pc:sldMk cId="3657657077" sldId="457"/>
        </pc:sldMkLst>
      </pc:sldChg>
      <pc:sldChg chg="addSp delSp modSp">
        <pc:chgData name="Thanh Ho Hoang" userId="bdaa2ca6-9388-4c5e-9437-595bc402494c" providerId="ADAL" clId="{E1CEDDCC-9B9A-4633-BBFA-AA7AA9B2AD42}" dt="2021-12-29T09:53:49.937" v="427" actId="1076"/>
        <pc:sldMkLst>
          <pc:docMk/>
          <pc:sldMk cId="559133927" sldId="462"/>
        </pc:sldMkLst>
      </pc:sldChg>
      <pc:sldChg chg="addSp delSp modSp">
        <pc:chgData name="Thanh Ho Hoang" userId="bdaa2ca6-9388-4c5e-9437-595bc402494c" providerId="ADAL" clId="{E1CEDDCC-9B9A-4633-BBFA-AA7AA9B2AD42}" dt="2021-12-29T09:55:55.624" v="440" actId="1076"/>
        <pc:sldMkLst>
          <pc:docMk/>
          <pc:sldMk cId="3742965702" sldId="463"/>
        </pc:sldMkLst>
      </pc:sldChg>
      <pc:sldChg chg="addSp delSp modSp addAnim delAnim">
        <pc:chgData name="Thanh Ho Hoang" userId="bdaa2ca6-9388-4c5e-9437-595bc402494c" providerId="ADAL" clId="{E1CEDDCC-9B9A-4633-BBFA-AA7AA9B2AD42}" dt="2021-12-29T09:55:49.218" v="439" actId="1076"/>
        <pc:sldMkLst>
          <pc:docMk/>
          <pc:sldMk cId="3943897987" sldId="464"/>
        </pc:sldMkLst>
      </pc:sldChg>
      <pc:sldChg chg="addSp delSp modSp">
        <pc:chgData name="Thanh Ho Hoang" userId="bdaa2ca6-9388-4c5e-9437-595bc402494c" providerId="ADAL" clId="{E1CEDDCC-9B9A-4633-BBFA-AA7AA9B2AD42}" dt="2021-12-29T10:00:32.567" v="461" actId="2711"/>
        <pc:sldMkLst>
          <pc:docMk/>
          <pc:sldMk cId="2324719737" sldId="466"/>
        </pc:sldMkLst>
      </pc:sldChg>
      <pc:sldChg chg="addSp delSp modSp">
        <pc:chgData name="Thanh Ho Hoang" userId="bdaa2ca6-9388-4c5e-9437-595bc402494c" providerId="ADAL" clId="{E1CEDDCC-9B9A-4633-BBFA-AA7AA9B2AD42}" dt="2021-12-29T10:08:55.492" v="525" actId="207"/>
        <pc:sldMkLst>
          <pc:docMk/>
          <pc:sldMk cId="1496875562" sldId="467"/>
        </pc:sldMkLst>
      </pc:sldChg>
      <pc:sldChg chg="addSp delSp modSp">
        <pc:chgData name="Thanh Ho Hoang" userId="bdaa2ca6-9388-4c5e-9437-595bc402494c" providerId="ADAL" clId="{E1CEDDCC-9B9A-4633-BBFA-AA7AA9B2AD42}" dt="2021-12-29T10:00:37.636" v="462" actId="2711"/>
        <pc:sldMkLst>
          <pc:docMk/>
          <pc:sldMk cId="2065673337" sldId="468"/>
        </pc:sldMkLst>
      </pc:sldChg>
      <pc:sldChg chg="addSp delSp modSp">
        <pc:chgData name="Thanh Ho Hoang" userId="bdaa2ca6-9388-4c5e-9437-595bc402494c" providerId="ADAL" clId="{E1CEDDCC-9B9A-4633-BBFA-AA7AA9B2AD42}" dt="2021-12-29T10:09:32.741" v="533" actId="478"/>
        <pc:sldMkLst>
          <pc:docMk/>
          <pc:sldMk cId="201719554" sldId="469"/>
        </pc:sldMkLst>
      </pc:sldChg>
      <pc:sldChg chg="modSp add ord">
        <pc:chgData name="Thanh Ho Hoang" userId="bdaa2ca6-9388-4c5e-9437-595bc402494c" providerId="ADAL" clId="{E1CEDDCC-9B9A-4633-BBFA-AA7AA9B2AD42}" dt="2021-12-29T10:08:23.315" v="520"/>
        <pc:sldMkLst>
          <pc:docMk/>
          <pc:sldMk cId="1407044473" sldId="470"/>
        </pc:sldMkLst>
      </pc:sldChg>
      <pc:sldChg chg="del">
        <pc:chgData name="Thanh Ho Hoang" userId="bdaa2ca6-9388-4c5e-9437-595bc402494c" providerId="ADAL" clId="{E1CEDDCC-9B9A-4633-BBFA-AA7AA9B2AD42}" dt="2021-12-29T08:08:23.468" v="1" actId="2696"/>
        <pc:sldMkLst>
          <pc:docMk/>
          <pc:sldMk cId="4007765886" sldId="470"/>
        </pc:sldMkLst>
      </pc:sldChg>
      <pc:sldChg chg="del">
        <pc:chgData name="Thanh Ho Hoang" userId="bdaa2ca6-9388-4c5e-9437-595bc402494c" providerId="ADAL" clId="{E1CEDDCC-9B9A-4633-BBFA-AA7AA9B2AD42}" dt="2021-12-29T08:08:20.321" v="0" actId="2696"/>
        <pc:sldMkLst>
          <pc:docMk/>
          <pc:sldMk cId="2931241662" sldId="471"/>
        </pc:sldMkLst>
      </pc:sldChg>
      <pc:sldChg chg="modSp add">
        <pc:chgData name="Thanh Ho Hoang" userId="bdaa2ca6-9388-4c5e-9437-595bc402494c" providerId="ADAL" clId="{E1CEDDCC-9B9A-4633-BBFA-AA7AA9B2AD42}" dt="2021-12-29T10:18:53.684" v="610"/>
        <pc:sldMkLst>
          <pc:docMk/>
          <pc:sldMk cId="3746265436" sldId="471"/>
        </pc:sldMkLst>
      </pc:sldChg>
      <pc:sldMasterChg chg="delSldLayout modSldLayout">
        <pc:chgData name="Thanh Ho Hoang" userId="bdaa2ca6-9388-4c5e-9437-595bc402494c" providerId="ADAL" clId="{E1CEDDCC-9B9A-4633-BBFA-AA7AA9B2AD42}" dt="2021-12-29T08:55:35.587" v="142"/>
        <pc:sldMasterMkLst>
          <pc:docMk/>
          <pc:sldMasterMk cId="1395275884" sldId="2147483660"/>
        </pc:sldMasterMkLst>
        <pc:sldLayoutChg chg="addSp delSp setBg">
          <pc:chgData name="Thanh Ho Hoang" userId="bdaa2ca6-9388-4c5e-9437-595bc402494c" providerId="ADAL" clId="{E1CEDDCC-9B9A-4633-BBFA-AA7AA9B2AD42}" dt="2021-12-29T08:55:35.587" v="142"/>
          <pc:sldLayoutMkLst>
            <pc:docMk/>
            <pc:sldMasterMk cId="1395275884" sldId="2147483660"/>
            <pc:sldLayoutMk cId="1406769010" sldId="2147483662"/>
          </pc:sldLayoutMkLst>
        </pc:sldLayoutChg>
        <pc:sldLayoutChg chg="del">
          <pc:chgData name="Thanh Ho Hoang" userId="bdaa2ca6-9388-4c5e-9437-595bc402494c" providerId="ADAL" clId="{E1CEDDCC-9B9A-4633-BBFA-AA7AA9B2AD42}" dt="2021-12-29T08:08:27.464" v="3" actId="2696"/>
          <pc:sldLayoutMkLst>
            <pc:docMk/>
            <pc:sldMasterMk cId="1395275884" sldId="2147483660"/>
            <pc:sldLayoutMk cId="2588799629" sldId="2147483672"/>
          </pc:sldLayoutMkLst>
        </pc:sldLayoutChg>
      </pc:sldMasterChg>
      <pc:sldMasterChg chg="addSp modSldLayout">
        <pc:chgData name="Thanh Ho Hoang" userId="bdaa2ca6-9388-4c5e-9437-595bc402494c" providerId="ADAL" clId="{E1CEDDCC-9B9A-4633-BBFA-AA7AA9B2AD42}" dt="2021-12-29T08:55:44.207" v="146"/>
        <pc:sldMasterMkLst>
          <pc:docMk/>
          <pc:sldMasterMk cId="4140135205" sldId="2147483668"/>
        </pc:sldMasterMkLst>
        <pc:sldLayoutChg chg="addSp delSp">
          <pc:chgData name="Thanh Ho Hoang" userId="bdaa2ca6-9388-4c5e-9437-595bc402494c" providerId="ADAL" clId="{E1CEDDCC-9B9A-4633-BBFA-AA7AA9B2AD42}" dt="2021-12-29T08:55:30.227" v="140"/>
          <pc:sldLayoutMkLst>
            <pc:docMk/>
            <pc:sldMasterMk cId="4140135205" sldId="2147483668"/>
            <pc:sldLayoutMk cId="4147589443" sldId="2147483669"/>
          </pc:sldLayoutMkLst>
        </pc:sldLayoutChg>
        <pc:sldLayoutChg chg="addSp delSp">
          <pc:chgData name="Thanh Ho Hoang" userId="bdaa2ca6-9388-4c5e-9437-595bc402494c" providerId="ADAL" clId="{E1CEDDCC-9B9A-4633-BBFA-AA7AA9B2AD42}" dt="2021-12-29T08:55:28.476" v="139"/>
          <pc:sldLayoutMkLst>
            <pc:docMk/>
            <pc:sldMasterMk cId="4140135205" sldId="2147483668"/>
            <pc:sldLayoutMk cId="3893872043" sldId="2147483670"/>
          </pc:sldLayoutMkLst>
        </pc:sldLayoutChg>
        <pc:sldLayoutChg chg="addSp">
          <pc:chgData name="Thanh Ho Hoang" userId="bdaa2ca6-9388-4c5e-9437-595bc402494c" providerId="ADAL" clId="{E1CEDDCC-9B9A-4633-BBFA-AA7AA9B2AD42}" dt="2021-12-29T08:55:26.979" v="138"/>
          <pc:sldLayoutMkLst>
            <pc:docMk/>
            <pc:sldMasterMk cId="4140135205" sldId="2147483668"/>
            <pc:sldLayoutMk cId="924078642" sldId="2147483671"/>
          </pc:sldLayoutMkLst>
        </pc:sldLayoutChg>
        <pc:sldLayoutChg chg="addSp">
          <pc:chgData name="Thanh Ho Hoang" userId="bdaa2ca6-9388-4c5e-9437-595bc402494c" providerId="ADAL" clId="{E1CEDDCC-9B9A-4633-BBFA-AA7AA9B2AD42}" dt="2021-12-29T08:55:19.643" v="133"/>
          <pc:sldLayoutMkLst>
            <pc:docMk/>
            <pc:sldMasterMk cId="4140135205" sldId="2147483668"/>
            <pc:sldLayoutMk cId="268290164" sldId="2147483672"/>
          </pc:sldLayoutMkLst>
        </pc:sldLayoutChg>
        <pc:sldLayoutChg chg="addSp">
          <pc:chgData name="Thanh Ho Hoang" userId="bdaa2ca6-9388-4c5e-9437-595bc402494c" providerId="ADAL" clId="{E1CEDDCC-9B9A-4633-BBFA-AA7AA9B2AD42}" dt="2021-12-29T08:55:23.570" v="137"/>
          <pc:sldLayoutMkLst>
            <pc:docMk/>
            <pc:sldMasterMk cId="4140135205" sldId="2147483668"/>
            <pc:sldLayoutMk cId="1209753032" sldId="2147483673"/>
          </pc:sldLayoutMkLst>
        </pc:sldLayoutChg>
        <pc:sldLayoutChg chg="addSp">
          <pc:chgData name="Thanh Ho Hoang" userId="bdaa2ca6-9388-4c5e-9437-595bc402494c" providerId="ADAL" clId="{E1CEDDCC-9B9A-4633-BBFA-AA7AA9B2AD42}" dt="2021-12-29T08:55:22.928" v="136"/>
          <pc:sldLayoutMkLst>
            <pc:docMk/>
            <pc:sldMasterMk cId="4140135205" sldId="2147483668"/>
            <pc:sldLayoutMk cId="616557465" sldId="2147483674"/>
          </pc:sldLayoutMkLst>
        </pc:sldLayoutChg>
        <pc:sldLayoutChg chg="addSp">
          <pc:chgData name="Thanh Ho Hoang" userId="bdaa2ca6-9388-4c5e-9437-595bc402494c" providerId="ADAL" clId="{E1CEDDCC-9B9A-4633-BBFA-AA7AA9B2AD42}" dt="2021-12-29T08:55:21.342" v="134"/>
          <pc:sldLayoutMkLst>
            <pc:docMk/>
            <pc:sldMasterMk cId="4140135205" sldId="2147483668"/>
            <pc:sldLayoutMk cId="1447196385" sldId="2147483675"/>
          </pc:sldLayoutMkLst>
        </pc:sldLayoutChg>
        <pc:sldLayoutChg chg="addSp">
          <pc:chgData name="Thanh Ho Hoang" userId="bdaa2ca6-9388-4c5e-9437-595bc402494c" providerId="ADAL" clId="{E1CEDDCC-9B9A-4633-BBFA-AA7AA9B2AD42}" dt="2021-12-29T08:55:22.050" v="135"/>
          <pc:sldLayoutMkLst>
            <pc:docMk/>
            <pc:sldMasterMk cId="4140135205" sldId="2147483668"/>
            <pc:sldLayoutMk cId="2504216151" sldId="2147483676"/>
          </pc:sldLayoutMkLst>
        </pc:sldLayoutChg>
        <pc:sldLayoutChg chg="addSp">
          <pc:chgData name="Thanh Ho Hoang" userId="bdaa2ca6-9388-4c5e-9437-595bc402494c" providerId="ADAL" clId="{E1CEDDCC-9B9A-4633-BBFA-AA7AA9B2AD42}" dt="2021-12-29T08:55:40.929" v="145"/>
          <pc:sldLayoutMkLst>
            <pc:docMk/>
            <pc:sldMasterMk cId="4140135205" sldId="2147483668"/>
            <pc:sldLayoutMk cId="2405779324" sldId="2147483677"/>
          </pc:sldLayoutMkLst>
        </pc:sldLayoutChg>
        <pc:sldLayoutChg chg="addSp">
          <pc:chgData name="Thanh Ho Hoang" userId="bdaa2ca6-9388-4c5e-9437-595bc402494c" providerId="ADAL" clId="{E1CEDDCC-9B9A-4633-BBFA-AA7AA9B2AD42}" dt="2021-12-29T08:55:39.511" v="144"/>
          <pc:sldLayoutMkLst>
            <pc:docMk/>
            <pc:sldMasterMk cId="4140135205" sldId="2147483668"/>
            <pc:sldLayoutMk cId="1451782973" sldId="2147483678"/>
          </pc:sldLayoutMkLst>
        </pc:sldLayoutChg>
        <pc:sldLayoutChg chg="addSp">
          <pc:chgData name="Thanh Ho Hoang" userId="bdaa2ca6-9388-4c5e-9437-595bc402494c" providerId="ADAL" clId="{E1CEDDCC-9B9A-4633-BBFA-AA7AA9B2AD42}" dt="2021-12-29T08:55:36.860" v="143"/>
          <pc:sldLayoutMkLst>
            <pc:docMk/>
            <pc:sldMasterMk cId="4140135205" sldId="2147483668"/>
            <pc:sldLayoutMk cId="1076980104" sldId="2147483679"/>
          </pc:sldLayoutMkLst>
        </pc:sldLayoutChg>
        <pc:sldLayoutChg chg="addSp setBg">
          <pc:chgData name="Thanh Ho Hoang" userId="bdaa2ca6-9388-4c5e-9437-595bc402494c" providerId="ADAL" clId="{E1CEDDCC-9B9A-4633-BBFA-AA7AA9B2AD42}" dt="2021-12-29T08:55:33.758" v="141"/>
          <pc:sldLayoutMkLst>
            <pc:docMk/>
            <pc:sldMasterMk cId="4140135205" sldId="2147483668"/>
            <pc:sldLayoutMk cId="1419069618" sldId="214748368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5/7/2025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‹#›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5/7/2025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675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391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E92CD7-3A53-49A7-A6DD-9E3A99F23A85}" type="slidenum">
              <a:rPr lang="en-US"/>
              <a:pPr/>
              <a:t>3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20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03338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4BA63B-286B-46C9-B52C-1B6101BC0A03}" type="slidenum">
              <a:rPr lang="en-US"/>
              <a:pPr/>
              <a:t>4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22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r>
              <a:rPr lang="en-US" b="1" dirty="0"/>
              <a:t>Data from Multiple Tables</a:t>
            </a:r>
          </a:p>
          <a:p>
            <a:pPr lvl="1"/>
            <a:r>
              <a:rPr lang="en-US" dirty="0"/>
              <a:t>Sometimes you need to use </a:t>
            </a:r>
            <a:r>
              <a:rPr lang="en-US" dirty="0">
                <a:solidFill>
                  <a:srgbClr val="FC0128"/>
                </a:solidFill>
              </a:rPr>
              <a:t>data from more than one table</a:t>
            </a:r>
            <a:r>
              <a:rPr lang="en-US" dirty="0"/>
              <a:t>. In the slide example, the report displays data from two separate tables.</a:t>
            </a:r>
          </a:p>
          <a:p>
            <a:pPr lvl="1"/>
            <a:r>
              <a:rPr lang="en-US" dirty="0"/>
              <a:t>To produce the report, you need to link (</a:t>
            </a:r>
            <a:r>
              <a:rPr lang="en-US" b="1" dirty="0"/>
              <a:t>join</a:t>
            </a:r>
            <a:r>
              <a:rPr lang="en-US" dirty="0"/>
              <a:t>) the </a:t>
            </a:r>
            <a:r>
              <a:rPr lang="en-US" dirty="0">
                <a:latin typeface="Courier New" pitchFamily="49" charset="0"/>
              </a:rPr>
              <a:t>Employees</a:t>
            </a:r>
            <a:r>
              <a:rPr lang="en-US" dirty="0"/>
              <a:t> and </a:t>
            </a:r>
            <a:r>
              <a:rPr lang="en-US" dirty="0">
                <a:latin typeface="Courier New" pitchFamily="49" charset="0"/>
              </a:rPr>
              <a:t>Departments</a:t>
            </a:r>
            <a:r>
              <a:rPr lang="en-US" dirty="0"/>
              <a:t> tables and access data from both of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986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9DC064-E946-4394-A38B-3AD43C9C7D2D}" type="slidenum">
              <a:rPr lang="en-US"/>
              <a:pPr/>
              <a:t>7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26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6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pPr lvl="1">
              <a:lnSpc>
                <a:spcPct val="65000"/>
              </a:lnSpc>
              <a:spcBef>
                <a:spcPct val="35000"/>
              </a:spcBef>
            </a:pPr>
            <a:r>
              <a:rPr lang="en-US" sz="2300" dirty="0"/>
              <a:t>These are SQL99 compliant joins</a:t>
            </a:r>
          </a:p>
        </p:txBody>
      </p:sp>
    </p:spTree>
    <p:extLst>
      <p:ext uri="{BB962C8B-B14F-4D97-AF65-F5344CB8AC3E}">
        <p14:creationId xmlns:p14="http://schemas.microsoft.com/office/powerpoint/2010/main" val="1839819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Inner</a:t>
            </a:r>
            <a:r>
              <a:rPr lang="en-US" baseline="0" dirty="0"/>
              <a:t> joins return only rows which exist in both tables.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840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164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Left outer joins return all the data in the first(left) table and all the data from the second(right) table that matches the join</a:t>
            </a:r>
            <a:r>
              <a:rPr lang="en-US" baseline="0" dirty="0"/>
              <a:t> conditions. If the data in the right table doesn’t match any data in the left table the return value is NULL.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226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30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Right outer joins return all the data in the second(right) table and all the data from the first(left) table that matches the join</a:t>
            </a:r>
            <a:r>
              <a:rPr lang="en-US" baseline="0" dirty="0"/>
              <a:t> conditions. If the data in the left table doesn’t match any data in the right table the return value is NULL.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230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911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Full joins match all the data in the left</a:t>
            </a:r>
            <a:r>
              <a:rPr lang="en-US" baseline="0" dirty="0"/>
              <a:t> and the right table. If</a:t>
            </a:r>
            <a:r>
              <a:rPr lang="bg-BG" baseline="0" dirty="0"/>
              <a:t> </a:t>
            </a:r>
            <a:r>
              <a:rPr lang="en-US" baseline="0" dirty="0"/>
              <a:t>any of the values doesn’t the join conditions the return value is NULL.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6748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818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Cross joins create Cartesian products. This means that</a:t>
            </a:r>
            <a:r>
              <a:rPr lang="en-US" baseline="0" dirty="0"/>
              <a:t> all the rows in the left table are multiplied by all the rows in the right table. If table Employees has 2 rows and table Departments has 3 rows the result will return the multiplication – 6 rows.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0089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6770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FA7091-1169-4A3F-A158-1ACE5A626F08}" type="slidenum">
              <a:rPr lang="en-US"/>
              <a:pPr/>
              <a:t>28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41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r>
              <a:rPr lang="en-US" b="1" dirty="0"/>
              <a:t>Three-Way Joins</a:t>
            </a:r>
          </a:p>
          <a:p>
            <a:pPr lvl="1"/>
            <a:endParaRPr lang="en-US" b="1" dirty="0"/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FC0128"/>
                </a:solidFill>
              </a:rPr>
              <a:t>three-way join</a:t>
            </a:r>
            <a:r>
              <a:rPr lang="en-US" dirty="0"/>
              <a:t> is a join of three tables. In </a:t>
            </a:r>
            <a:r>
              <a:rPr lang="en-US" dirty="0">
                <a:solidFill>
                  <a:srgbClr val="FC0128"/>
                </a:solidFill>
              </a:rPr>
              <a:t>SQL: 1999 compliant syntax</a:t>
            </a:r>
            <a:r>
              <a:rPr lang="en-US" dirty="0"/>
              <a:t>, joins are performed from left to right so the first join to be performed is </a:t>
            </a:r>
            <a:r>
              <a:rPr lang="en-US" dirty="0">
                <a:latin typeface="Courier New" pitchFamily="49" charset="0"/>
              </a:rPr>
              <a:t>Employees</a:t>
            </a:r>
            <a:r>
              <a:rPr lang="en-US" dirty="0"/>
              <a:t> </a:t>
            </a:r>
            <a:r>
              <a:rPr lang="en-US" dirty="0">
                <a:latin typeface="Courier New" pitchFamily="49" charset="0"/>
              </a:rPr>
              <a:t>JOIN</a:t>
            </a:r>
            <a:r>
              <a:rPr lang="en-US" dirty="0"/>
              <a:t> </a:t>
            </a:r>
            <a:r>
              <a:rPr lang="en-US" dirty="0">
                <a:latin typeface="Courier New" pitchFamily="49" charset="0"/>
              </a:rPr>
              <a:t>ADDRESS</a:t>
            </a:r>
            <a:r>
              <a:rPr lang="en-US" dirty="0"/>
              <a:t>. The first join condition can reference columns in </a:t>
            </a:r>
            <a:r>
              <a:rPr lang="en-US" dirty="0">
                <a:latin typeface="Courier New" pitchFamily="49" charset="0"/>
              </a:rPr>
              <a:t>Employees</a:t>
            </a:r>
            <a:r>
              <a:rPr lang="en-US" dirty="0"/>
              <a:t> and </a:t>
            </a:r>
            <a:r>
              <a:rPr lang="en-US" dirty="0">
                <a:latin typeface="Courier New" pitchFamily="49" charset="0"/>
              </a:rPr>
              <a:t>ADDRESS</a:t>
            </a:r>
            <a:r>
              <a:rPr lang="en-US" dirty="0"/>
              <a:t> but cannot reference columns in </a:t>
            </a:r>
            <a:r>
              <a:rPr lang="en-US" dirty="0">
                <a:latin typeface="Courier New" pitchFamily="49" charset="0"/>
              </a:rPr>
              <a:t>STATEPROVINCE</a:t>
            </a:r>
            <a:r>
              <a:rPr lang="en-US" dirty="0"/>
              <a:t>. The second join condition can reference columns from all three tables.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This can also be written as a three-way equijoin: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SELECT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a.City</a:t>
            </a:r>
            <a:r>
              <a:rPr lang="en-US" dirty="0"/>
              <a:t>, </a:t>
            </a:r>
            <a:r>
              <a:rPr lang="en-US" dirty="0" err="1"/>
              <a:t>sp.Name</a:t>
            </a:r>
            <a:r>
              <a:rPr lang="en-US" dirty="0"/>
              <a:t> </a:t>
            </a:r>
            <a:r>
              <a:rPr lang="en-US" dirty="0" err="1"/>
              <a:t>SPName</a:t>
            </a:r>
            <a:endParaRPr lang="en-US" dirty="0"/>
          </a:p>
          <a:p>
            <a:pPr lvl="1"/>
            <a:r>
              <a:rPr lang="en-US" dirty="0"/>
              <a:t>FROM employee e, address a, </a:t>
            </a:r>
            <a:r>
              <a:rPr lang="en-US" dirty="0" err="1"/>
              <a:t>stateprovince</a:t>
            </a:r>
            <a:r>
              <a:rPr lang="en-US" dirty="0"/>
              <a:t> sp</a:t>
            </a:r>
          </a:p>
          <a:p>
            <a:pPr lvl="1"/>
            <a:r>
              <a:rPr lang="en-US" dirty="0"/>
              <a:t>WHERE </a:t>
            </a:r>
            <a:r>
              <a:rPr lang="en-US" dirty="0" err="1"/>
              <a:t>e.AddressID</a:t>
            </a:r>
            <a:r>
              <a:rPr lang="en-US" dirty="0"/>
              <a:t> = </a:t>
            </a:r>
            <a:r>
              <a:rPr lang="en-US" dirty="0" err="1"/>
              <a:t>a.AddressID</a:t>
            </a:r>
            <a:endParaRPr lang="en-US" dirty="0"/>
          </a:p>
          <a:p>
            <a:pPr lvl="1"/>
            <a:r>
              <a:rPr lang="en-US" dirty="0"/>
              <a:t>  AND </a:t>
            </a:r>
            <a:r>
              <a:rPr lang="en-US" dirty="0" err="1"/>
              <a:t>a.StateProvinceID</a:t>
            </a:r>
            <a:r>
              <a:rPr lang="en-US" dirty="0"/>
              <a:t> = </a:t>
            </a:r>
            <a:r>
              <a:rPr lang="en-US" dirty="0" err="1"/>
              <a:t>sp.StateProvinceID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3602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FA7091-1169-4A3F-A158-1ACE5A626F08}" type="slidenum">
              <a:rPr lang="en-US"/>
              <a:pPr/>
              <a:t>29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41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r>
              <a:rPr lang="en-US" b="1" dirty="0"/>
              <a:t>Three-Way Joins</a:t>
            </a:r>
          </a:p>
          <a:p>
            <a:pPr lvl="1"/>
            <a:endParaRPr lang="en-US" b="1" dirty="0"/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FC0128"/>
                </a:solidFill>
              </a:rPr>
              <a:t>three-way join</a:t>
            </a:r>
            <a:r>
              <a:rPr lang="en-US" dirty="0"/>
              <a:t> is a join of three tables. In </a:t>
            </a:r>
            <a:r>
              <a:rPr lang="en-US" dirty="0">
                <a:solidFill>
                  <a:srgbClr val="FC0128"/>
                </a:solidFill>
              </a:rPr>
              <a:t>SQL: 1999 compliant syntax</a:t>
            </a:r>
            <a:r>
              <a:rPr lang="en-US" dirty="0"/>
              <a:t>, joins are performed from left to right so the first join to be performed is </a:t>
            </a:r>
            <a:r>
              <a:rPr lang="en-US" dirty="0">
                <a:latin typeface="Courier New" pitchFamily="49" charset="0"/>
              </a:rPr>
              <a:t>Employees</a:t>
            </a:r>
            <a:r>
              <a:rPr lang="en-US" dirty="0"/>
              <a:t> </a:t>
            </a:r>
            <a:r>
              <a:rPr lang="en-US" dirty="0">
                <a:latin typeface="Courier New" pitchFamily="49" charset="0"/>
              </a:rPr>
              <a:t>JOIN</a:t>
            </a:r>
            <a:r>
              <a:rPr lang="en-US" dirty="0"/>
              <a:t> </a:t>
            </a:r>
            <a:r>
              <a:rPr lang="en-US" dirty="0">
                <a:latin typeface="Courier New" pitchFamily="49" charset="0"/>
              </a:rPr>
              <a:t>ADDRESS</a:t>
            </a:r>
            <a:r>
              <a:rPr lang="en-US" dirty="0"/>
              <a:t>. The first join condition can reference columns in </a:t>
            </a:r>
            <a:r>
              <a:rPr lang="en-US" dirty="0">
                <a:latin typeface="Courier New" pitchFamily="49" charset="0"/>
              </a:rPr>
              <a:t>Employees</a:t>
            </a:r>
            <a:r>
              <a:rPr lang="en-US" dirty="0"/>
              <a:t> and </a:t>
            </a:r>
            <a:r>
              <a:rPr lang="en-US" dirty="0">
                <a:latin typeface="Courier New" pitchFamily="49" charset="0"/>
              </a:rPr>
              <a:t>ADDRESS</a:t>
            </a:r>
            <a:r>
              <a:rPr lang="en-US" dirty="0"/>
              <a:t> but cannot reference columns in </a:t>
            </a:r>
            <a:r>
              <a:rPr lang="en-US" dirty="0">
                <a:latin typeface="Courier New" pitchFamily="49" charset="0"/>
              </a:rPr>
              <a:t>STATEPROVINCE</a:t>
            </a:r>
            <a:r>
              <a:rPr lang="en-US" dirty="0"/>
              <a:t>. The second join condition can reference columns from all three tables.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This can also be written as a three-way equijoin: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SELECT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a.City</a:t>
            </a:r>
            <a:r>
              <a:rPr lang="en-US" dirty="0"/>
              <a:t>, </a:t>
            </a:r>
            <a:r>
              <a:rPr lang="en-US" dirty="0" err="1"/>
              <a:t>sp.Name</a:t>
            </a:r>
            <a:r>
              <a:rPr lang="en-US" dirty="0"/>
              <a:t> </a:t>
            </a:r>
            <a:r>
              <a:rPr lang="en-US" dirty="0" err="1"/>
              <a:t>SPName</a:t>
            </a:r>
            <a:endParaRPr lang="en-US" dirty="0"/>
          </a:p>
          <a:p>
            <a:pPr lvl="1"/>
            <a:r>
              <a:rPr lang="en-US" dirty="0"/>
              <a:t>FROM employee e, address a, </a:t>
            </a:r>
            <a:r>
              <a:rPr lang="en-US" dirty="0" err="1"/>
              <a:t>stateprovince</a:t>
            </a:r>
            <a:r>
              <a:rPr lang="en-US" dirty="0"/>
              <a:t> sp</a:t>
            </a:r>
          </a:p>
          <a:p>
            <a:pPr lvl="1"/>
            <a:r>
              <a:rPr lang="en-US" dirty="0"/>
              <a:t>WHERE </a:t>
            </a:r>
            <a:r>
              <a:rPr lang="en-US" dirty="0" err="1"/>
              <a:t>e.AddressID</a:t>
            </a:r>
            <a:r>
              <a:rPr lang="en-US" dirty="0"/>
              <a:t> = </a:t>
            </a:r>
            <a:r>
              <a:rPr lang="en-US" dirty="0" err="1"/>
              <a:t>a.AddressID</a:t>
            </a:r>
            <a:endParaRPr lang="en-US" dirty="0"/>
          </a:p>
          <a:p>
            <a:pPr lvl="1"/>
            <a:r>
              <a:rPr lang="en-US" dirty="0"/>
              <a:t>  AND </a:t>
            </a:r>
            <a:r>
              <a:rPr lang="en-US" dirty="0" err="1"/>
              <a:t>a.StateProvinceID</a:t>
            </a:r>
            <a:r>
              <a:rPr lang="en-US" dirty="0"/>
              <a:t> = </a:t>
            </a:r>
            <a:r>
              <a:rPr lang="en-US" dirty="0" err="1"/>
              <a:t>sp.StateProvinceID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7601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AD1251-0D49-4EB1-BD4E-3DE084FC6C13}" type="slidenum">
              <a:rPr lang="en-US"/>
              <a:pPr/>
              <a:t>30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45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pPr lvl="1"/>
            <a:r>
              <a:rPr lang="en-US" dirty="0"/>
              <a:t>The example shown performs a join on the </a:t>
            </a:r>
            <a:r>
              <a:rPr lang="en-US" dirty="0">
                <a:latin typeface="Courier New" pitchFamily="49" charset="0"/>
              </a:rPr>
              <a:t>Employees</a:t>
            </a:r>
            <a:r>
              <a:rPr lang="en-US" dirty="0"/>
              <a:t> and </a:t>
            </a:r>
            <a:r>
              <a:rPr lang="en-US" dirty="0">
                <a:latin typeface="Courier New" pitchFamily="49" charset="0"/>
              </a:rPr>
              <a:t>Departments</a:t>
            </a:r>
            <a:r>
              <a:rPr lang="en-US" dirty="0"/>
              <a:t> tables, and, in addition, displays only employees within the Sales department.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947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AD1251-0D49-4EB1-BD4E-3DE084FC6C13}" type="slidenum">
              <a:rPr lang="en-US"/>
              <a:pPr/>
              <a:t>31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45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pPr lvl="1"/>
            <a:r>
              <a:rPr lang="en-US" dirty="0"/>
              <a:t>The example shown performs a join on the </a:t>
            </a:r>
            <a:r>
              <a:rPr lang="en-US" dirty="0">
                <a:latin typeface="Courier New" pitchFamily="49" charset="0"/>
              </a:rPr>
              <a:t>Employees</a:t>
            </a:r>
            <a:r>
              <a:rPr lang="en-US" dirty="0"/>
              <a:t> and </a:t>
            </a:r>
            <a:r>
              <a:rPr lang="en-US" dirty="0">
                <a:latin typeface="Courier New" pitchFamily="49" charset="0"/>
              </a:rPr>
              <a:t>Departments</a:t>
            </a:r>
            <a:r>
              <a:rPr lang="en-US" dirty="0"/>
              <a:t> tables, and, in addition, displays only employees within the Sales department.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6429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2006 National Academy for Software Development - http://academy.devbg.org*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5C2DCA-6CD4-48A7-91CC-990A469CC4A4}" type="slidenum">
              <a:rPr lang="en-US"/>
              <a:pPr/>
              <a:t>32</a:t>
            </a:fld>
            <a:r>
              <a:rPr lang="en-US" dirty="0"/>
              <a:t>##</a:t>
            </a:r>
          </a:p>
        </p:txBody>
      </p:sp>
      <p:sp>
        <p:nvSpPr>
          <p:cNvPr id="1187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9473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2006 National Academy for Software Development - http://academy.devbg.org*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5C2DCA-6CD4-48A7-91CC-990A469CC4A4}" type="slidenum">
              <a:rPr lang="en-US"/>
              <a:pPr/>
              <a:t>33</a:t>
            </a:fld>
            <a:r>
              <a:rPr lang="en-US" dirty="0"/>
              <a:t>##</a:t>
            </a:r>
          </a:p>
        </p:txBody>
      </p:sp>
      <p:sp>
        <p:nvSpPr>
          <p:cNvPr id="1187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1291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2006 National Academy for Software Development - http://academy.devbg.org*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89BB25-ABF2-40B6-A2DA-D2E8EC9D27F7}" type="slidenum">
              <a:rPr lang="en-US"/>
              <a:pPr/>
              <a:t>34</a:t>
            </a:fld>
            <a:r>
              <a:rPr lang="en-US" dirty="0"/>
              <a:t>##</a:t>
            </a:r>
          </a:p>
        </p:txBody>
      </p:sp>
      <p:sp>
        <p:nvSpPr>
          <p:cNvPr id="1069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9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</p:spPr>
        <p:txBody>
          <a:bodyPr/>
          <a:lstStyle/>
          <a:p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5905104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FA7091-1169-4A3F-A158-1ACE5A626F08}" type="slidenum">
              <a:rPr lang="en-US"/>
              <a:pPr/>
              <a:t>35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41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0398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E92CD7-3A53-49A7-A6DD-9E3A99F23A85}" type="slidenum">
              <a:rPr lang="en-US"/>
              <a:pPr/>
              <a:t>36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20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63674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subquery or nested query is a query within another SQL query and embedded within the WHERE clause.</a:t>
            </a:r>
            <a:r>
              <a:rPr lang="en-US" baseline="0" dirty="0"/>
              <a:t> Its main purpose is to serve as a data filter for the main query. It can be used after any of the operators(&gt;,&lt;, =, !=, IN, BETWEEN). A subquery can return a single value or multiple values.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0766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110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2006 National Academy for Software Development - http://academy.devbg.org*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89BB25-ABF2-40B6-A2DA-D2E8EC9D27F7}" type="slidenum">
              <a:rPr lang="en-US"/>
              <a:pPr/>
              <a:t>39</a:t>
            </a:fld>
            <a:r>
              <a:rPr lang="en-US" dirty="0"/>
              <a:t>##</a:t>
            </a:r>
          </a:p>
        </p:txBody>
      </p:sp>
      <p:sp>
        <p:nvSpPr>
          <p:cNvPr id="1069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9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0786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1005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E92CD7-3A53-49A7-A6DD-9E3A99F23A85}" type="slidenum">
              <a:rPr lang="en-US"/>
              <a:pPr/>
              <a:t>41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20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891227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5866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9059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36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4FC56-F194-4D6B-8BC1-8C145D11F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411CD7-2E32-43FF-A10B-8B89B95CC0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0BDA9-F544-456C-A414-27667CADA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D55E-7C2F-4D80-9AA3-1FCF86A5EA1F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EB633-6207-4F2A-8821-AA5CC3CD7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CD059-4339-452F-A74B-926ECEF47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B9ED2-D176-4CB5-BB69-EFEB025970E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20;p3">
            <a:extLst>
              <a:ext uri="{FF2B5EF4-FFF2-40B4-BE49-F238E27FC236}">
                <a16:creationId xmlns:a16="http://schemas.microsoft.com/office/drawing/2014/main" id="{C87FDDDE-CE43-402F-8425-159D9DCF485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21;p3">
            <a:extLst>
              <a:ext uri="{FF2B5EF4-FFF2-40B4-BE49-F238E27FC236}">
                <a16:creationId xmlns:a16="http://schemas.microsoft.com/office/drawing/2014/main" id="{AFF945B0-96DD-4EA7-BB5F-591B8F8590D7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147589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B66C8-8D79-4DA5-82B0-5F0461B2F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354155-DC3C-495A-AEF1-41C4B5B1D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A1AB0-DDD4-4ABC-ABAE-EFA41A02E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0EC83-1FC5-42B0-975A-F82522198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48FCF-0DE3-458C-8A3E-9B2736415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7;p2">
            <a:extLst>
              <a:ext uri="{FF2B5EF4-FFF2-40B4-BE49-F238E27FC236}">
                <a16:creationId xmlns:a16="http://schemas.microsoft.com/office/drawing/2014/main" id="{02DED26D-F7B9-449B-A8DC-26A878C5EB3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1219517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DB714CF9-63EE-4493-BAF3-4539A311F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9150" y="514267"/>
            <a:ext cx="2309253" cy="853976"/>
          </a:xfrm>
          <a:prstGeom prst="rect">
            <a:avLst/>
          </a:prstGeom>
        </p:spPr>
      </p:pic>
      <p:sp>
        <p:nvSpPr>
          <p:cNvPr id="9" name="Google Shape;56;p8">
            <a:extLst>
              <a:ext uri="{FF2B5EF4-FFF2-40B4-BE49-F238E27FC236}">
                <a16:creationId xmlns:a16="http://schemas.microsoft.com/office/drawing/2014/main" id="{B6B92D0D-7B28-436F-814D-A195D2D87F99}"/>
              </a:ext>
            </a:extLst>
          </p:cNvPr>
          <p:cNvSpPr txBox="1"/>
          <p:nvPr userDrawn="1"/>
        </p:nvSpPr>
        <p:spPr>
          <a:xfrm>
            <a:off x="658945" y="5853119"/>
            <a:ext cx="6769053" cy="45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lt1"/>
                </a:solidFill>
                <a:latin typeface="Sarabun Light"/>
                <a:ea typeface="Sarabun Light"/>
                <a:cs typeface="Sarabun Light"/>
                <a:sym typeface="Sarabun Light"/>
              </a:rPr>
              <a:t>the leading software outsourcing company in Vietnam. </a:t>
            </a:r>
            <a:endParaRPr sz="1401" dirty="0">
              <a:solidFill>
                <a:schemeClr val="lt1"/>
              </a:solidFill>
              <a:latin typeface="Sarabun Light"/>
              <a:ea typeface="Sarabun Light"/>
              <a:cs typeface="Sarabun Light"/>
              <a:sym typeface="Sarabun Light"/>
            </a:endParaRPr>
          </a:p>
        </p:txBody>
      </p:sp>
    </p:spTree>
    <p:extLst>
      <p:ext uri="{BB962C8B-B14F-4D97-AF65-F5344CB8AC3E}">
        <p14:creationId xmlns:p14="http://schemas.microsoft.com/office/powerpoint/2010/main" val="293527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ED859-20D3-46B5-B569-670287A99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672A3-D7B8-4946-9F74-E45269255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FA053-80DE-43E3-9E7B-C728BCD25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1F1ED-2D81-4AEE-8099-CEE1E8767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2C24F-A3B2-4FBF-86D2-57ABD9E02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oogle Shape;20;p3">
            <a:extLst>
              <a:ext uri="{FF2B5EF4-FFF2-40B4-BE49-F238E27FC236}">
                <a16:creationId xmlns:a16="http://schemas.microsoft.com/office/drawing/2014/main" id="{5308B388-2D11-4FB7-875E-5EB9D629473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21;p3">
            <a:extLst>
              <a:ext uri="{FF2B5EF4-FFF2-40B4-BE49-F238E27FC236}">
                <a16:creationId xmlns:a16="http://schemas.microsoft.com/office/drawing/2014/main" id="{C3D8E099-3C2E-428B-86CA-11F356B0360A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893872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604F-8EFD-4EE6-8AD2-45BE7310E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EC4A9-C1DA-4AD8-A1ED-462FAD17F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D4790-7816-40F4-AB51-A62C2EF4E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3B47E-32F0-41C1-9743-387746B24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38FD5-1F1C-484F-B005-271FD345A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Google Shape;20;p3">
            <a:extLst>
              <a:ext uri="{FF2B5EF4-FFF2-40B4-BE49-F238E27FC236}">
                <a16:creationId xmlns:a16="http://schemas.microsoft.com/office/drawing/2014/main" id="{53E6EA4A-4964-4A0A-8A9B-C182CF92C06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Google Shape;21;p3">
            <a:extLst>
              <a:ext uri="{FF2B5EF4-FFF2-40B4-BE49-F238E27FC236}">
                <a16:creationId xmlns:a16="http://schemas.microsoft.com/office/drawing/2014/main" id="{E037F120-0BF9-4ECD-A38B-587E255E6540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9240786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4068D-60A6-4CB5-87B7-E366B490F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5002D-FA2B-40A4-8169-8B83547D05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95672-1369-4D82-ABD8-50A07A86C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3BB1E-B25F-4D11-91F6-53E5F1D84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3B438-422E-4633-B625-17105ED1B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A60E2-FC7F-459D-880A-58B1B4768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oogle Shape;20;p3">
            <a:extLst>
              <a:ext uri="{FF2B5EF4-FFF2-40B4-BE49-F238E27FC236}">
                <a16:creationId xmlns:a16="http://schemas.microsoft.com/office/drawing/2014/main" id="{C15A2D66-6045-42F1-8655-9736D7291E5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21;p3">
            <a:extLst>
              <a:ext uri="{FF2B5EF4-FFF2-40B4-BE49-F238E27FC236}">
                <a16:creationId xmlns:a16="http://schemas.microsoft.com/office/drawing/2014/main" id="{84A20F17-21D7-49DB-8DE7-1DBDFD361D82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6829016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32B54-10ED-43C7-821D-06E834685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4CEC7-C363-4FBE-BBC1-ED1C09381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240B4-EC17-470F-B6F4-416334E14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07E4BB-07C4-4DB2-8FA9-A5DCD69F49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EF7199-5A88-4301-8720-FA0D38E655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07AC5-BAED-471E-B08E-9304ED6C3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21F24D-C94B-4152-A6FF-0664AF54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5FAD16-C19C-40CF-BA33-045601F6A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oogle Shape;20;p3">
            <a:extLst>
              <a:ext uri="{FF2B5EF4-FFF2-40B4-BE49-F238E27FC236}">
                <a16:creationId xmlns:a16="http://schemas.microsoft.com/office/drawing/2014/main" id="{1758DE40-CE8F-445D-98C5-C1D3C5206FD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Google Shape;21;p3">
            <a:extLst>
              <a:ext uri="{FF2B5EF4-FFF2-40B4-BE49-F238E27FC236}">
                <a16:creationId xmlns:a16="http://schemas.microsoft.com/office/drawing/2014/main" id="{CC130B46-45AC-4A12-AFB5-BE8818EE809B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20975303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C0A4C-6FD8-47FF-8BF3-B01E22682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7CEBD2-927F-47E0-9AE7-EC5D5C5DE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8102C2-7E1B-4DFE-A1D0-C1E3B7CC1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83BA5-BCDD-43C9-AB45-F784C004F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oogle Shape;20;p3">
            <a:extLst>
              <a:ext uri="{FF2B5EF4-FFF2-40B4-BE49-F238E27FC236}">
                <a16:creationId xmlns:a16="http://schemas.microsoft.com/office/drawing/2014/main" id="{72A565FA-BDCF-45DA-8A20-99C08054119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21;p3">
            <a:extLst>
              <a:ext uri="{FF2B5EF4-FFF2-40B4-BE49-F238E27FC236}">
                <a16:creationId xmlns:a16="http://schemas.microsoft.com/office/drawing/2014/main" id="{C5A32CC0-A58D-4A60-B42C-E9C34C0BE49F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61655746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F1C73E-F187-44F1-8FC0-B10EE4132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237C0B-B7A7-46BB-A199-526515B44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60D84-4029-423A-B88C-53EB7C90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oogle Shape;20;p3">
            <a:extLst>
              <a:ext uri="{FF2B5EF4-FFF2-40B4-BE49-F238E27FC236}">
                <a16:creationId xmlns:a16="http://schemas.microsoft.com/office/drawing/2014/main" id="{7A458269-7642-4751-805C-835718D89C1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Google Shape;21;p3">
            <a:extLst>
              <a:ext uri="{FF2B5EF4-FFF2-40B4-BE49-F238E27FC236}">
                <a16:creationId xmlns:a16="http://schemas.microsoft.com/office/drawing/2014/main" id="{6921BF35-4E3C-4E6F-A245-202BCDA5294B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44719638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73C61-6F2A-4A33-87DC-C669D8E8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55CB2-CBA8-4750-865B-8C2F8BEBE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AFA80C-3AEB-4F2D-B084-16737BFE0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1AC34-C862-4EA8-B455-8215A93D9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B2F870-6D3C-46FA-BB7E-8CF18377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B7CDC-4291-417C-BA04-12F1326E5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oogle Shape;20;p3">
            <a:extLst>
              <a:ext uri="{FF2B5EF4-FFF2-40B4-BE49-F238E27FC236}">
                <a16:creationId xmlns:a16="http://schemas.microsoft.com/office/drawing/2014/main" id="{B23CA591-0549-4EFB-91D5-B7A39352612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21;p3">
            <a:extLst>
              <a:ext uri="{FF2B5EF4-FFF2-40B4-BE49-F238E27FC236}">
                <a16:creationId xmlns:a16="http://schemas.microsoft.com/office/drawing/2014/main" id="{3DF9F9EC-EE09-4D1A-818D-1A5C6031DBB8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50421615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0EAA8-E00E-4E53-9CE8-1271D1D6A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66FFE0-36FA-48B6-9553-E9E69828CA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8C75D-10D4-4EFF-BB35-FBFCDB0DB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CEB82-D144-4B96-9F2F-30B8D0480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48733-CF87-4477-A7D8-CF741B12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295A0-1C94-4B79-871C-10D488E66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oogle Shape;20;p3">
            <a:extLst>
              <a:ext uri="{FF2B5EF4-FFF2-40B4-BE49-F238E27FC236}">
                <a16:creationId xmlns:a16="http://schemas.microsoft.com/office/drawing/2014/main" id="{C1BD5AEE-F07B-4AF1-BFCE-D9631EF4B0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21;p3">
            <a:extLst>
              <a:ext uri="{FF2B5EF4-FFF2-40B4-BE49-F238E27FC236}">
                <a16:creationId xmlns:a16="http://schemas.microsoft.com/office/drawing/2014/main" id="{DAF465D3-DF27-4E80-8113-FEAE66698182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40577932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AD273-4E6A-4277-AB64-33DB83731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B5C5FC-A8F8-4B4E-89C2-FD60C4B74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28C71-4ABF-4CDC-9C56-1F9A17825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0AD18-2DFE-438B-B552-F935FA54E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BA5B4-0F7F-466A-B51C-36A545FA6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Google Shape;20;p3">
            <a:extLst>
              <a:ext uri="{FF2B5EF4-FFF2-40B4-BE49-F238E27FC236}">
                <a16:creationId xmlns:a16="http://schemas.microsoft.com/office/drawing/2014/main" id="{4034365F-7028-4F5A-BB74-E4D456175E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Google Shape;21;p3">
            <a:extLst>
              <a:ext uri="{FF2B5EF4-FFF2-40B4-BE49-F238E27FC236}">
                <a16:creationId xmlns:a16="http://schemas.microsoft.com/office/drawing/2014/main" id="{17B2AC41-961E-4740-A4AE-60CAAC48DC17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45178297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771127-2C58-4A41-AC3B-256BE1E2B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5EAB-D877-4C5A-8839-E7025B2B7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021B3-3A75-45D2-9999-0B945F156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6A253-1718-4BE9-98C8-897DFA7F5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090BB-5DEA-4356-BFE3-CA66CFA5B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Google Shape;20;p3">
            <a:extLst>
              <a:ext uri="{FF2B5EF4-FFF2-40B4-BE49-F238E27FC236}">
                <a16:creationId xmlns:a16="http://schemas.microsoft.com/office/drawing/2014/main" id="{692D6CB6-B810-4638-B4B3-3AF045366B2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Google Shape;21;p3">
            <a:extLst>
              <a:ext uri="{FF2B5EF4-FFF2-40B4-BE49-F238E27FC236}">
                <a16:creationId xmlns:a16="http://schemas.microsoft.com/office/drawing/2014/main" id="{934D1485-C7DB-4A3E-A861-CC7F41B1A6F3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07698010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6413" y="314301"/>
            <a:ext cx="7382341" cy="2000251"/>
          </a:xfrm>
        </p:spPr>
        <p:txBody>
          <a:bodyPr lIns="0" tIns="0" rIns="0" bIns="0">
            <a:normAutofit/>
          </a:bodyPr>
          <a:lstStyle>
            <a:lvl1pPr algn="r">
              <a:defRPr sz="5400">
                <a:solidFill>
                  <a:srgbClr val="F6D18E"/>
                </a:solidFill>
              </a:defRPr>
            </a:lvl1pPr>
          </a:lstStyle>
          <a:p>
            <a:r>
              <a:rPr lang="en-US" dirty="0"/>
              <a:t>Presentation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66413" y="2346299"/>
            <a:ext cx="7382341" cy="175260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dirty="0"/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60412" y="4164083"/>
            <a:ext cx="3187613" cy="5251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b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baseline="0" dirty="0" smtClean="0">
                <a:solidFill>
                  <a:srgbClr val="EE792A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366413" y="4191000"/>
            <a:ext cx="7382341" cy="1905000"/>
          </a:xfrm>
          <a:prstGeom prst="rect">
            <a:avLst/>
          </a:prstGeom>
        </p:spPr>
        <p:txBody>
          <a:bodyPr lIns="108000" tIns="36000" rIns="108000" bIns="36000"/>
          <a:lstStyle>
            <a:lvl1pPr marL="0" indent="0">
              <a:buNone/>
              <a:defRPr/>
            </a:lvl1pPr>
          </a:lstStyle>
          <a:p>
            <a:r>
              <a:rPr lang="en-US" dirty="0"/>
              <a:t>Insert a Picture Here</a:t>
            </a:r>
          </a:p>
        </p:txBody>
      </p:sp>
      <p:sp>
        <p:nvSpPr>
          <p:cNvPr id="32" name="Text Placeholder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60413" y="4633982"/>
            <a:ext cx="3187614" cy="44434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rgbClr val="F4B36C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Position</a:t>
            </a:r>
          </a:p>
        </p:txBody>
      </p:sp>
      <p:sp>
        <p:nvSpPr>
          <p:cNvPr id="33" name="Text Placehold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60412" y="5011671"/>
            <a:ext cx="3187613" cy="395869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Web Site</a:t>
            </a:r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60412" y="5394605"/>
            <a:ext cx="3187613" cy="363552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5" name="Text Placeholder 13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760412" y="5735767"/>
            <a:ext cx="3187613" cy="3312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Web Site</a:t>
            </a:r>
          </a:p>
        </p:txBody>
      </p:sp>
      <p:pic>
        <p:nvPicPr>
          <p:cNvPr id="10" name="Google Shape;20;p3">
            <a:extLst>
              <a:ext uri="{FF2B5EF4-FFF2-40B4-BE49-F238E27FC236}">
                <a16:creationId xmlns:a16="http://schemas.microsoft.com/office/drawing/2014/main" id="{35B68ADD-8131-495A-9C92-BDA8A821707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Google Shape;21;p3">
            <a:extLst>
              <a:ext uri="{FF2B5EF4-FFF2-40B4-BE49-F238E27FC236}">
                <a16:creationId xmlns:a16="http://schemas.microsoft.com/office/drawing/2014/main" id="{3F5535A6-669E-4EC8-9C8A-F4258ED85692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4190696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5/7/2025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0413" y="1151121"/>
            <a:ext cx="11804822" cy="5570355"/>
          </a:xfrm>
        </p:spPr>
        <p:txBody>
          <a:bodyPr/>
          <a:lstStyle>
            <a:lvl1pPr>
              <a:defRPr sz="3400"/>
            </a:lvl1pPr>
            <a:lvl2pPr>
              <a:defRPr sz="3200"/>
            </a:lvl2pPr>
            <a:lvl3pPr>
              <a:defRPr sz="3000"/>
            </a:lvl3pPr>
            <a:lvl4pPr>
              <a:defRPr sz="2800"/>
            </a:lvl4pPr>
            <a:lvl5pPr>
              <a:defRPr sz="26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/>
              <a:t>Slide Title</a:t>
            </a:r>
            <a:endParaRPr dirty="0"/>
          </a:p>
        </p:txBody>
      </p:sp>
      <p:pic>
        <p:nvPicPr>
          <p:cNvPr id="8" name="Google Shape;20;p3">
            <a:extLst>
              <a:ext uri="{FF2B5EF4-FFF2-40B4-BE49-F238E27FC236}">
                <a16:creationId xmlns:a16="http://schemas.microsoft.com/office/drawing/2014/main" id="{2F6CD433-9E67-4144-8C76-25F2DA7EE6B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21;p3">
            <a:extLst>
              <a:ext uri="{FF2B5EF4-FFF2-40B4-BE49-F238E27FC236}">
                <a16:creationId xmlns:a16="http://schemas.microsoft.com/office/drawing/2014/main" id="{AD4B46CD-A7D0-405D-BB34-D893DB0BC4AD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26A9CC-F95B-4E6E-AD1B-BE56F4F10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302F7-9B21-4851-9FD8-ACBE73EA6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D1F95-4DF2-48C0-A508-3A0738DFA7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03E32-623B-48A4-8259-B90955E0A7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79F8F-6D60-4C05-8D11-D84709218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Google Shape;20;p3">
            <a:extLst>
              <a:ext uri="{FF2B5EF4-FFF2-40B4-BE49-F238E27FC236}">
                <a16:creationId xmlns:a16="http://schemas.microsoft.com/office/drawing/2014/main" id="{A8DA68A4-7C2E-4D7D-A25F-F0BC8E3CC928}"/>
              </a:ext>
            </a:extLst>
          </p:cNvPr>
          <p:cNvPicPr preferRelativeResize="0"/>
          <p:nvPr userDrawn="1"/>
        </p:nvPicPr>
        <p:blipFill rotWithShape="1">
          <a:blip r:embed="rId16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Google Shape;21;p3">
            <a:extLst>
              <a:ext uri="{FF2B5EF4-FFF2-40B4-BE49-F238E27FC236}">
                <a16:creationId xmlns:a16="http://schemas.microsoft.com/office/drawing/2014/main" id="{C5520A75-5992-40D1-BABC-FAB34752E7FF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140135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62" r:id="rId14"/>
  </p:sldLayoutIdLst>
  <p:hf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184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red, sitting, umbrella, holding&#10;&#10;Description automatically generated">
            <a:extLst>
              <a:ext uri="{FF2B5EF4-FFF2-40B4-BE49-F238E27FC236}">
                <a16:creationId xmlns:a16="http://schemas.microsoft.com/office/drawing/2014/main" id="{B809730B-7DF2-42E4-AA02-848B155A4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19479"/>
            <a:ext cx="12188825" cy="7096957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36548" y="2001989"/>
            <a:ext cx="11072864" cy="205823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JOINS, SUBQUERIES, CTE </a:t>
            </a:r>
            <a:b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INDICES</a:t>
            </a:r>
          </a:p>
        </p:txBody>
      </p:sp>
    </p:spTree>
    <p:extLst>
      <p:ext uri="{BB962C8B-B14F-4D97-AF65-F5344CB8AC3E}">
        <p14:creationId xmlns:p14="http://schemas.microsoft.com/office/powerpoint/2010/main" val="321537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idx="1"/>
          </p:nvPr>
        </p:nvSpPr>
        <p:spPr>
          <a:xfrm>
            <a:off x="514197" y="1143000"/>
            <a:ext cx="11160430" cy="4904533"/>
          </a:xfrm>
        </p:spPr>
        <p:txBody>
          <a:bodyPr>
            <a:normAutofit/>
          </a:bodyPr>
          <a:lstStyle/>
          <a:p>
            <a:pPr marL="444500" indent="-444500">
              <a:lnSpc>
                <a:spcPct val="100000"/>
              </a:lnSpc>
              <a:buFontTx/>
              <a:buAutoNum type="arabicPeriod"/>
            </a:pP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Joins</a:t>
            </a:r>
          </a:p>
          <a:p>
            <a:pPr marL="444500" indent="-444500">
              <a:lnSpc>
                <a:spcPct val="100000"/>
              </a:lnSpc>
              <a:buFontTx/>
              <a:buAutoNum type="arabicPeriod"/>
            </a:pP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Subqueries</a:t>
            </a:r>
          </a:p>
          <a:p>
            <a:pPr marL="444500" indent="-444500">
              <a:lnSpc>
                <a:spcPct val="100000"/>
              </a:lnSpc>
              <a:buFontTx/>
              <a:buAutoNum type="arabicPeriod"/>
            </a:pP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Common Table Expressions (CTE)</a:t>
            </a:r>
          </a:p>
          <a:p>
            <a:pPr marL="444500" indent="-444500">
              <a:lnSpc>
                <a:spcPct val="100000"/>
              </a:lnSpc>
              <a:buFontTx/>
              <a:buAutoNum type="arabicPeriod"/>
            </a:pP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Indices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09FBD2-D4C3-459B-A1B3-A9FBFF8B6D92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Table of contents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36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red, sitting, umbrella, holding&#10;&#10;Description automatically generated">
            <a:extLst>
              <a:ext uri="{FF2B5EF4-FFF2-40B4-BE49-F238E27FC236}">
                <a16:creationId xmlns:a16="http://schemas.microsoft.com/office/drawing/2014/main" id="{CF7CC003-3C7F-4717-B6A1-63C8E3DC9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19479"/>
            <a:ext cx="12188825" cy="7096957"/>
          </a:xfrm>
          <a:prstGeom prst="rect">
            <a:avLst/>
          </a:prstGeom>
        </p:spPr>
      </p:pic>
      <p:sp>
        <p:nvSpPr>
          <p:cNvPr id="519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39825" y="2425812"/>
            <a:ext cx="8938472" cy="820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JOINS</a:t>
            </a:r>
            <a:endParaRPr lang="bg-BG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648497" y="3255916"/>
            <a:ext cx="10721128" cy="71903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Gathering</a:t>
            </a:r>
            <a:r>
              <a:rPr dirty="0">
                <a:solidFill>
                  <a:schemeClr val="bg1"/>
                </a:solidFill>
              </a:rPr>
              <a:t> Data From Multiple Tables</a:t>
            </a:r>
            <a:endParaRPr lang="bg-B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063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050668" y="4049023"/>
            <a:ext cx="647700" cy="1218018"/>
            <a:chOff x="4150" y="2578"/>
            <a:chExt cx="408" cy="952"/>
          </a:xfrm>
        </p:grpSpPr>
        <p:sp>
          <p:nvSpPr>
            <p:cNvPr id="521219" name="Line 3"/>
            <p:cNvSpPr>
              <a:spLocks noChangeShapeType="1"/>
            </p:cNvSpPr>
            <p:nvPr/>
          </p:nvSpPr>
          <p:spPr bwMode="auto">
            <a:xfrm>
              <a:off x="4558" y="2578"/>
              <a:ext cx="0" cy="952"/>
            </a:xfrm>
            <a:prstGeom prst="line">
              <a:avLst/>
            </a:prstGeom>
            <a:ln w="57150"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bg-BG" dirty="0"/>
            </a:p>
          </p:txBody>
        </p:sp>
        <p:sp>
          <p:nvSpPr>
            <p:cNvPr id="521220" name="Line 4"/>
            <p:cNvSpPr>
              <a:spLocks noChangeShapeType="1"/>
            </p:cNvSpPr>
            <p:nvPr/>
          </p:nvSpPr>
          <p:spPr bwMode="auto">
            <a:xfrm flipH="1">
              <a:off x="4150" y="3521"/>
              <a:ext cx="408" cy="0"/>
            </a:xfrm>
            <a:prstGeom prst="line">
              <a:avLst/>
            </a:prstGeom>
            <a:ln w="57150">
              <a:headEnd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bg-BG" dirty="0"/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1518978" y="3591823"/>
            <a:ext cx="673690" cy="1540014"/>
            <a:chOff x="930" y="2577"/>
            <a:chExt cx="535" cy="953"/>
          </a:xfrm>
        </p:grpSpPr>
        <p:sp>
          <p:nvSpPr>
            <p:cNvPr id="521222" name="Line 6"/>
            <p:cNvSpPr>
              <a:spLocks noChangeShapeType="1"/>
            </p:cNvSpPr>
            <p:nvPr/>
          </p:nvSpPr>
          <p:spPr bwMode="auto">
            <a:xfrm>
              <a:off x="930" y="2577"/>
              <a:ext cx="0" cy="953"/>
            </a:xfrm>
            <a:prstGeom prst="line">
              <a:avLst/>
            </a:prstGeom>
            <a:ln w="57150"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bg-BG" dirty="0"/>
            </a:p>
          </p:txBody>
        </p:sp>
        <p:sp>
          <p:nvSpPr>
            <p:cNvPr id="521223" name="Line 7"/>
            <p:cNvSpPr>
              <a:spLocks noChangeShapeType="1"/>
            </p:cNvSpPr>
            <p:nvPr/>
          </p:nvSpPr>
          <p:spPr bwMode="auto">
            <a:xfrm>
              <a:off x="930" y="3521"/>
              <a:ext cx="535" cy="0"/>
            </a:xfrm>
            <a:prstGeom prst="line">
              <a:avLst/>
            </a:prstGeom>
            <a:ln w="57150">
              <a:headEnd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bg-BG" dirty="0"/>
            </a:p>
          </p:txBody>
        </p:sp>
      </p:grpSp>
      <p:sp>
        <p:nvSpPr>
          <p:cNvPr id="521225" name="Rectangle 9"/>
          <p:cNvSpPr>
            <a:spLocks noGrp="1" noChangeArrowheads="1"/>
          </p:cNvSpPr>
          <p:nvPr>
            <p:ph idx="1"/>
          </p:nvPr>
        </p:nvSpPr>
        <p:spPr>
          <a:xfrm>
            <a:off x="989012" y="1253331"/>
            <a:ext cx="10512862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Sometimes you need data from several tables:</a:t>
            </a:r>
          </a:p>
        </p:txBody>
      </p:sp>
      <p:graphicFrame>
        <p:nvGraphicFramePr>
          <p:cNvPr id="1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196856"/>
              </p:ext>
            </p:extLst>
          </p:nvPr>
        </p:nvGraphicFramePr>
        <p:xfrm>
          <a:off x="821068" y="2220223"/>
          <a:ext cx="4343400" cy="1371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90156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053244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EmployeeName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Edward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3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John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NULL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0634117"/>
                  </a:ext>
                </a:extLst>
              </a:tr>
            </a:tbl>
          </a:graphicData>
        </a:graphic>
      </p:graphicFrame>
      <p:sp>
        <p:nvSpPr>
          <p:cNvPr id="15" name="TextBox 12"/>
          <p:cNvSpPr txBox="1"/>
          <p:nvPr/>
        </p:nvSpPr>
        <p:spPr>
          <a:xfrm>
            <a:off x="1964068" y="1648598"/>
            <a:ext cx="18821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Employees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195799"/>
              </p:ext>
            </p:extLst>
          </p:nvPr>
        </p:nvGraphicFramePr>
        <p:xfrm>
          <a:off x="6536068" y="2220223"/>
          <a:ext cx="4722815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45341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577474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DepartmentID</a:t>
                      </a:r>
                      <a:endParaRPr lang="en-US" i="0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DepartmentName</a:t>
                      </a:r>
                      <a:endParaRPr lang="en-US" i="0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Marketing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6535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Purchasing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3780"/>
                  </a:ext>
                </a:extLst>
              </a:tr>
            </a:tbl>
          </a:graphicData>
        </a:graphic>
      </p:graphicFrame>
      <p:sp>
        <p:nvSpPr>
          <p:cNvPr id="17" name="TextBox 17"/>
          <p:cNvSpPr txBox="1"/>
          <p:nvPr/>
        </p:nvSpPr>
        <p:spPr>
          <a:xfrm>
            <a:off x="7647751" y="1648598"/>
            <a:ext cx="2245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Departments</a:t>
            </a:r>
          </a:p>
        </p:txBody>
      </p:sp>
      <p:graphicFrame>
        <p:nvGraphicFramePr>
          <p:cNvPr id="18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797334"/>
              </p:ext>
            </p:extLst>
          </p:nvPr>
        </p:nvGraphicFramePr>
        <p:xfrm>
          <a:off x="2192668" y="4822946"/>
          <a:ext cx="6858000" cy="914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77774">
                  <a:extLst>
                    <a:ext uri="{9D8B030D-6E8A-4147-A177-3AD203B41FA5}">
                      <a16:colId xmlns:a16="http://schemas.microsoft.com/office/drawing/2014/main" val="187285565"/>
                    </a:ext>
                  </a:extLst>
                </a:gridCol>
                <a:gridCol w="2065625">
                  <a:extLst>
                    <a:ext uri="{9D8B030D-6E8A-4147-A177-3AD203B41FA5}">
                      <a16:colId xmlns:a16="http://schemas.microsoft.com/office/drawing/2014/main" val="1774347793"/>
                    </a:ext>
                  </a:extLst>
                </a:gridCol>
                <a:gridCol w="2514601">
                  <a:extLst>
                    <a:ext uri="{9D8B030D-6E8A-4147-A177-3AD203B41FA5}">
                      <a16:colId xmlns:a16="http://schemas.microsoft.com/office/drawing/2014/main" val="171930601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EmployeeName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DepartmentID</a:t>
                      </a:r>
                      <a:endParaRPr lang="en-US" i="0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DepartmentName</a:t>
                      </a:r>
                      <a:endParaRPr lang="en-US" i="0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2531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Edward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3</a:t>
                      </a:r>
                      <a:endParaRPr lang="en-US" i="0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Sales</a:t>
                      </a:r>
                      <a:endParaRPr lang="en-US" i="0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43253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95D5AD9-205D-416A-AD2F-4C1D787E69A5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Data from Multiple Tables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75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7" name="Rectangle 3"/>
          <p:cNvSpPr>
            <a:spLocks noGrp="1" noChangeArrowheads="1"/>
          </p:cNvSpPr>
          <p:nvPr>
            <p:ph idx="1"/>
          </p:nvPr>
        </p:nvSpPr>
        <p:spPr>
          <a:xfrm>
            <a:off x="837981" y="1253331"/>
            <a:ext cx="10512862" cy="43513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This will produce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Cartesian product</a:t>
            </a:r>
            <a:r>
              <a:rPr lang="en-US" dirty="0"/>
              <a:t>: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The result:</a:t>
            </a:r>
          </a:p>
        </p:txBody>
      </p:sp>
      <p:sp>
        <p:nvSpPr>
          <p:cNvPr id="523268" name="Rectangle 4"/>
          <p:cNvSpPr>
            <a:spLocks noChangeArrowheads="1"/>
          </p:cNvSpPr>
          <p:nvPr/>
        </p:nvSpPr>
        <p:spPr bwMode="auto">
          <a:xfrm>
            <a:off x="2398711" y="1755792"/>
            <a:ext cx="7391400" cy="89255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SELECT LastName, Name AS DepartmentName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FROM Employees, Departments</a:t>
            </a:r>
          </a:p>
        </p:txBody>
      </p:sp>
      <p:graphicFrame>
        <p:nvGraphicFramePr>
          <p:cNvPr id="7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523235"/>
              </p:ext>
            </p:extLst>
          </p:nvPr>
        </p:nvGraphicFramePr>
        <p:xfrm>
          <a:off x="3198811" y="3014251"/>
          <a:ext cx="4722815" cy="2743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45341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577474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LastName</a:t>
                      </a:r>
                      <a:endParaRPr lang="en-US" i="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DepartmentName</a:t>
                      </a:r>
                      <a:endParaRPr lang="en-US" i="0" noProof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Gilbert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Engineering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Engineering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6535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66259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Gilbert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93368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81817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ED5A004-CBF9-4C47-B33D-E73996882B04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Cartesian Product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329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3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3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3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267" grpId="0" uiExpand="1" build="p"/>
      <p:bldP spid="52326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1" name="Rectangle 3"/>
          <p:cNvSpPr>
            <a:spLocks noGrp="1" noChangeArrowheads="1"/>
          </p:cNvSpPr>
          <p:nvPr>
            <p:ph idx="1"/>
          </p:nvPr>
        </p:nvSpPr>
        <p:spPr>
          <a:xfrm>
            <a:off x="837981" y="1371600"/>
            <a:ext cx="10512862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 Cartesian product is formed when: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 join condition is omitted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 join condition is invalid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All rows in the first table are joined to all rows in the second table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avoid a Cartesian product, always include a valid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join condition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32F981-BBF7-4A84-AB72-2BF0D36243DC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Cartesian Product (1)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39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4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4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4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4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4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4291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5" name="Rectangle 3"/>
          <p:cNvSpPr>
            <a:spLocks noGrp="1" noChangeArrowheads="1"/>
          </p:cNvSpPr>
          <p:nvPr>
            <p:ph idx="1"/>
          </p:nvPr>
        </p:nvSpPr>
        <p:spPr>
          <a:xfrm>
            <a:off x="749496" y="1443971"/>
            <a:ext cx="10512862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Inner joins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Left, right and full outer joins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Cross joins</a:t>
            </a:r>
          </a:p>
        </p:txBody>
      </p:sp>
      <p:pic>
        <p:nvPicPr>
          <p:cNvPr id="45057" name="Picture 1" descr="C:\Trash\table-red.pn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2614737" y="3240972"/>
            <a:ext cx="2771776" cy="2224262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" name="Picture 1" descr="C:\Trash\table-red.png"/>
          <p:cNvPicPr>
            <a:picLocks noChangeAspect="1" noChangeArrowheads="1"/>
          </p:cNvPicPr>
          <p:nvPr/>
        </p:nvPicPr>
        <p:blipFill>
          <a:blip r:embed="rId3" cstate="screen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7466012" y="3276600"/>
            <a:ext cx="2771776" cy="2224262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45061" name="Picture 5" descr="http://www.clker.com/cliparts/9/1/7/7/11954453101010753072kuba_arrow_icons_set.svg.hi.pn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 rot="984847">
            <a:off x="4738515" y="3758127"/>
            <a:ext cx="1119026" cy="609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5" descr="http://www.clker.com/cliparts/9/1/7/7/11954453101010753072kuba_arrow_icons_set.svg.hi.pn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 rot="20261839" flipH="1">
            <a:off x="6958978" y="3724893"/>
            <a:ext cx="1114376" cy="6096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45059" name="Picture 3" descr="http://www.clker.com/cliparts/9/1/7/7/11954453101010753072kuba_arrow_icons_set.svg.hi.png"/>
          <p:cNvPicPr>
            <a:picLocks noChangeAspect="1" noChangeArrowheads="1"/>
          </p:cNvPicPr>
          <p:nvPr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5799140" y="4101394"/>
            <a:ext cx="1238248" cy="1155698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E83CB2-FDD2-4441-B45B-A308AF3FF9BF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Types of Joins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89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5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5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531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9" name="Rectangle 3"/>
          <p:cNvSpPr>
            <a:spLocks noGrp="1" noChangeArrowheads="1"/>
          </p:cNvSpPr>
          <p:nvPr>
            <p:ph idx="1"/>
          </p:nvPr>
        </p:nvSpPr>
        <p:spPr>
          <a:xfrm>
            <a:off x="760412" y="1371600"/>
            <a:ext cx="10512862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Inner join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 join of two tables returning only rows matching the join condition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Left (or right) outer join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Returns the results of the inner join as well as unmatched rows from the left (or right) table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Full outer join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Returns the results of an inner join along with all unmatched rows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D2985D-1A34-4BC6-8F7D-0750CDB75C77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INNER vs. OUTER Joins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77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1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1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31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1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31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459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108073"/>
              </p:ext>
            </p:extLst>
          </p:nvPr>
        </p:nvGraphicFramePr>
        <p:xfrm>
          <a:off x="760410" y="1795979"/>
          <a:ext cx="3962402" cy="1371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31474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230928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EmployeeID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263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3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270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NULL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634117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4999399" y="2438400"/>
            <a:ext cx="1476013" cy="0"/>
          </a:xfrm>
          <a:prstGeom prst="straightConnector1">
            <a:avLst/>
          </a:prstGeom>
          <a:ln w="476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45948" y="1143000"/>
            <a:ext cx="18821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1">
                <a:latin typeface="Segoe UI" panose="020B0502040204020203" pitchFamily="34" charset="0"/>
                <a:cs typeface="Segoe UI" panose="020B0502040204020203" pitchFamily="34" charset="0"/>
              </a:rPr>
              <a:t>Employees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356984"/>
              </p:ext>
            </p:extLst>
          </p:nvPr>
        </p:nvGraphicFramePr>
        <p:xfrm>
          <a:off x="6811529" y="1774649"/>
          <a:ext cx="4722815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45341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577474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DepartmentID</a:t>
                      </a:r>
                      <a:endParaRPr lang="en-US" i="0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DepartmentName</a:t>
                      </a:r>
                      <a:endParaRPr lang="en-US" i="0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Marketing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6535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Purchasing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378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923212" y="1066800"/>
            <a:ext cx="2245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1">
                <a:latin typeface="Segoe UI" panose="020B0502040204020203" pitchFamily="34" charset="0"/>
                <a:cs typeface="Segoe UI" panose="020B0502040204020203" pitchFamily="34" charset="0"/>
              </a:rPr>
              <a:t>Departments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575474"/>
              </p:ext>
            </p:extLst>
          </p:nvPr>
        </p:nvGraphicFramePr>
        <p:xfrm>
          <a:off x="1599687" y="4360617"/>
          <a:ext cx="8563265" cy="914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12926">
                  <a:extLst>
                    <a:ext uri="{9D8B030D-6E8A-4147-A177-3AD203B41FA5}">
                      <a16:colId xmlns:a16="http://schemas.microsoft.com/office/drawing/2014/main" val="187285565"/>
                    </a:ext>
                  </a:extLst>
                </a:gridCol>
                <a:gridCol w="2010426">
                  <a:extLst>
                    <a:ext uri="{9D8B030D-6E8A-4147-A177-3AD203B41FA5}">
                      <a16:colId xmlns:a16="http://schemas.microsoft.com/office/drawing/2014/main" val="184855798"/>
                    </a:ext>
                  </a:extLst>
                </a:gridCol>
                <a:gridCol w="2010426">
                  <a:extLst>
                    <a:ext uri="{9D8B030D-6E8A-4147-A177-3AD203B41FA5}">
                      <a16:colId xmlns:a16="http://schemas.microsoft.com/office/drawing/2014/main" val="1774347793"/>
                    </a:ext>
                  </a:extLst>
                </a:gridCol>
                <a:gridCol w="2829487">
                  <a:extLst>
                    <a:ext uri="{9D8B030D-6E8A-4147-A177-3AD203B41FA5}">
                      <a16:colId xmlns:a16="http://schemas.microsoft.com/office/drawing/2014/main" val="171930601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EmployeeID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DepartmentID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DepartmentID</a:t>
                      </a:r>
                      <a:endParaRPr lang="en-US" i="0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DepartmentName</a:t>
                      </a:r>
                      <a:endParaRPr lang="en-US" i="0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2531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263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432538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953138" y="3837397"/>
            <a:ext cx="1141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1">
                <a:latin typeface="Segoe UI" panose="020B0502040204020203" pitchFamily="34" charset="0"/>
                <a:cs typeface="Segoe UI" panose="020B0502040204020203" pitchFamily="34" charset="0"/>
              </a:rPr>
              <a:t>Result</a:t>
            </a:r>
          </a:p>
        </p:txBody>
      </p:sp>
      <p:sp>
        <p:nvSpPr>
          <p:cNvPr id="12" name="Rectangle: Rounded Corners 14"/>
          <p:cNvSpPr/>
          <p:nvPr/>
        </p:nvSpPr>
        <p:spPr>
          <a:xfrm>
            <a:off x="2494602" y="2189440"/>
            <a:ext cx="2168680" cy="533557"/>
          </a:xfrm>
          <a:prstGeom prst="roundRect">
            <a:avLst>
              <a:gd name="adj" fmla="val 5385"/>
            </a:avLst>
          </a:prstGeom>
          <a:noFill/>
          <a:ln w="57150">
            <a:solidFill>
              <a:srgbClr val="F3CD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4" name="Rectangle: Rounded Corners 14"/>
          <p:cNvSpPr/>
          <p:nvPr/>
        </p:nvSpPr>
        <p:spPr>
          <a:xfrm>
            <a:off x="6811529" y="2177580"/>
            <a:ext cx="2102283" cy="545417"/>
          </a:xfrm>
          <a:prstGeom prst="roundRect">
            <a:avLst>
              <a:gd name="adj" fmla="val 5385"/>
            </a:avLst>
          </a:prstGeom>
          <a:noFill/>
          <a:ln w="57150">
            <a:solidFill>
              <a:srgbClr val="F3CD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2D05D5-3A27-4622-8ECF-C19C31CE3289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INNER Join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193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2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76492" y="2209800"/>
            <a:ext cx="9674224" cy="169543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91440" tIns="108000" rIns="0" bIns="108000" rtlCol="0">
            <a:spAutoFit/>
          </a:bodyPr>
          <a:lstStyle/>
          <a:p>
            <a:pPr marL="0" lvl="2"/>
            <a:r>
              <a:rPr lang="en-US" sz="32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SELECT * FROM Employees AS e</a:t>
            </a:r>
          </a:p>
          <a:p>
            <a:pPr marL="0" lvl="2"/>
            <a:r>
              <a:rPr lang="en-US" sz="32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INNER JOIN</a:t>
            </a:r>
            <a:r>
              <a:rPr lang="en-US" sz="32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Departments AS d</a:t>
            </a:r>
          </a:p>
          <a:p>
            <a:pPr marL="0" lvl="2"/>
            <a:r>
              <a:rPr lang="en-US" sz="32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ON</a:t>
            </a:r>
            <a:r>
              <a:rPr lang="en-US" sz="32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e.DepartmentID = d.DepartmentID</a:t>
            </a:r>
            <a:endParaRPr lang="en-US" sz="3200" noProof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8968426" y="2533585"/>
            <a:ext cx="2932706" cy="558487"/>
          </a:xfrm>
          <a:prstGeom prst="wedgeRoundRectCallout">
            <a:avLst>
              <a:gd name="adj1" fmla="val -71507"/>
              <a:gd name="adj2" fmla="val 52165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noProof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Table Depatments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419131" y="3223596"/>
            <a:ext cx="1371600" cy="737683"/>
          </a:xfrm>
          <a:prstGeom prst="wedgeRoundRectCallout">
            <a:avLst>
              <a:gd name="adj1" fmla="val 75077"/>
              <a:gd name="adj2" fmla="val -68404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noProof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Inner </a:t>
            </a:r>
            <a:br>
              <a:rPr lang="en-US" sz="2400" noProof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noProof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Join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4765512" y="1539230"/>
            <a:ext cx="2971800" cy="558485"/>
          </a:xfrm>
          <a:prstGeom prst="wedgeRoundRectCallout">
            <a:avLst>
              <a:gd name="adj1" fmla="val -45949"/>
              <a:gd name="adj2" fmla="val 85694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noProof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Table Employees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5916716" y="4017322"/>
            <a:ext cx="2150007" cy="737683"/>
          </a:xfrm>
          <a:prstGeom prst="wedgeRoundRectCallout">
            <a:avLst>
              <a:gd name="adj1" fmla="val 26263"/>
              <a:gd name="adj2" fmla="val -76166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noProof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Join Conditions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D49186-002F-494E-B7B1-27997876B968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INNER Join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24">
            <a:extLst>
              <a:ext uri="{FF2B5EF4-FFF2-40B4-BE49-F238E27FC236}">
                <a16:creationId xmlns:a16="http://schemas.microsoft.com/office/drawing/2014/main" id="{65954BBD-B3FA-420C-8C80-52DA42B77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35" y="1253330"/>
            <a:ext cx="1051286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1492333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480060"/>
              </p:ext>
            </p:extLst>
          </p:nvPr>
        </p:nvGraphicFramePr>
        <p:xfrm>
          <a:off x="760410" y="1795979"/>
          <a:ext cx="3962402" cy="1371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31474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230928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EmployeeID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DepartmentID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263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270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634117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4999399" y="2438400"/>
            <a:ext cx="1476013" cy="0"/>
          </a:xfrm>
          <a:prstGeom prst="straightConnector1">
            <a:avLst/>
          </a:prstGeom>
          <a:ln w="476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45948" y="1251429"/>
            <a:ext cx="18821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Employees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664754"/>
              </p:ext>
            </p:extLst>
          </p:nvPr>
        </p:nvGraphicFramePr>
        <p:xfrm>
          <a:off x="6811529" y="1774649"/>
          <a:ext cx="4722815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45341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577474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DepartmentID</a:t>
                      </a:r>
                      <a:endParaRPr lang="en-US" i="0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DepartmentName</a:t>
                      </a:r>
                      <a:endParaRPr lang="en-US" i="0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Marketing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6535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Purchasing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378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923212" y="1203024"/>
            <a:ext cx="2245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Departments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999399" y="2971800"/>
            <a:ext cx="714013" cy="0"/>
          </a:xfrm>
          <a:prstGeom prst="straightConnector1">
            <a:avLst/>
          </a:prstGeom>
          <a:ln w="476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64222" y="271019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X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440891"/>
              </p:ext>
            </p:extLst>
          </p:nvPr>
        </p:nvGraphicFramePr>
        <p:xfrm>
          <a:off x="1331738" y="4284713"/>
          <a:ext cx="8763348" cy="1371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52949">
                  <a:extLst>
                    <a:ext uri="{9D8B030D-6E8A-4147-A177-3AD203B41FA5}">
                      <a16:colId xmlns:a16="http://schemas.microsoft.com/office/drawing/2014/main" val="18728556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8485579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774347793"/>
                    </a:ext>
                  </a:extLst>
                </a:gridCol>
                <a:gridCol w="2895599">
                  <a:extLst>
                    <a:ext uri="{9D8B030D-6E8A-4147-A177-3AD203B41FA5}">
                      <a16:colId xmlns:a16="http://schemas.microsoft.com/office/drawing/2014/main" val="171930601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EmployeeID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DepartmentID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DepartmentID</a:t>
                      </a:r>
                      <a:endParaRPr lang="en-US" i="0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DepartmentName</a:t>
                      </a:r>
                      <a:endParaRPr lang="en-US" i="0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2531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263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43253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270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787398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171372" y="3761493"/>
            <a:ext cx="1141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Result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891E79-3331-4F52-A0AA-BB49E800F550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LEFT OUTER Join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614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73" y="2362200"/>
            <a:ext cx="9674224" cy="169543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0" lvl="2"/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SELECT * FROM Employees AS e</a:t>
            </a:r>
          </a:p>
          <a:p>
            <a:pPr marL="0" lvl="2"/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LEFT OUTER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JOIN Departments AS d</a:t>
            </a:r>
          </a:p>
          <a:p>
            <a:pPr marL="0" lvl="2"/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ON 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e.DepartmentID = d.DepartmentID</a:t>
            </a:r>
            <a:endParaRPr lang="en-US" sz="3200" noProof="1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9087902" y="2413313"/>
            <a:ext cx="2932706" cy="558487"/>
          </a:xfrm>
          <a:prstGeom prst="wedgeRoundRectCallout">
            <a:avLst>
              <a:gd name="adj1" fmla="val -65271"/>
              <a:gd name="adj2" fmla="val 52165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Table Depatments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5648397" y="1729736"/>
            <a:ext cx="2971800" cy="558485"/>
          </a:xfrm>
          <a:prstGeom prst="wedgeRoundRectCallout">
            <a:avLst>
              <a:gd name="adj1" fmla="val -45949"/>
              <a:gd name="adj2" fmla="val 85694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Table Employees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4810197" y="4205595"/>
            <a:ext cx="2150007" cy="856462"/>
          </a:xfrm>
          <a:prstGeom prst="wedgeRoundRectCallout">
            <a:avLst>
              <a:gd name="adj1" fmla="val 34769"/>
              <a:gd name="adj2" fmla="val -76166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Join Conditions</a:t>
            </a:r>
          </a:p>
        </p:txBody>
      </p:sp>
      <p:sp>
        <p:nvSpPr>
          <p:cNvPr id="16" name="AutoShape 7"/>
          <p:cNvSpPr>
            <a:spLocks noChangeArrowheads="1"/>
          </p:cNvSpPr>
          <p:nvPr/>
        </p:nvSpPr>
        <p:spPr bwMode="auto">
          <a:xfrm>
            <a:off x="314397" y="3505200"/>
            <a:ext cx="1447800" cy="914400"/>
          </a:xfrm>
          <a:prstGeom prst="wedgeRoundRectCallout">
            <a:avLst>
              <a:gd name="adj1" fmla="val 75077"/>
              <a:gd name="adj2" fmla="val -68404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Left </a:t>
            </a:r>
            <a:br>
              <a:rPr lang="en-US" sz="2800" noProof="1">
                <a:solidFill>
                  <a:srgbClr val="FFFFFF"/>
                </a:solidFill>
              </a:rPr>
            </a:br>
            <a:r>
              <a:rPr lang="en-US" sz="2800" noProof="1">
                <a:solidFill>
                  <a:srgbClr val="FFFFFF"/>
                </a:solidFill>
              </a:rPr>
              <a:t>Join</a:t>
            </a:r>
          </a:p>
        </p:txBody>
      </p:sp>
      <p:sp>
        <p:nvSpPr>
          <p:cNvPr id="11" name="Content Placeholder 24">
            <a:extLst>
              <a:ext uri="{FF2B5EF4-FFF2-40B4-BE49-F238E27FC236}">
                <a16:creationId xmlns:a16="http://schemas.microsoft.com/office/drawing/2014/main" id="{5A63A8D3-B2E7-4847-98DB-101DD2DA7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35" y="1253330"/>
            <a:ext cx="1051286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Syntax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B8177B-B81C-4DF8-A134-E9EE53EC1752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LEFT OUTER Join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831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9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909017"/>
              </p:ext>
            </p:extLst>
          </p:nvPr>
        </p:nvGraphicFramePr>
        <p:xfrm>
          <a:off x="760410" y="1795979"/>
          <a:ext cx="3962402" cy="1371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31474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230928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EmployeeID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263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3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270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NULL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634117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flipH="1">
            <a:off x="4976376" y="2438400"/>
            <a:ext cx="1593285" cy="0"/>
          </a:xfrm>
          <a:prstGeom prst="straightConnector1">
            <a:avLst/>
          </a:prstGeom>
          <a:ln w="476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45948" y="1251429"/>
            <a:ext cx="17589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Employees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011310"/>
              </p:ext>
            </p:extLst>
          </p:nvPr>
        </p:nvGraphicFramePr>
        <p:xfrm>
          <a:off x="6811529" y="1774649"/>
          <a:ext cx="4722815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45341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577474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DepartmentID</a:t>
                      </a:r>
                      <a:endParaRPr lang="en-US" i="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DepartmentName</a:t>
                      </a:r>
                      <a:endParaRPr lang="en-US" i="0" noProof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Marketing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6535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Purchasing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378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923212" y="1203024"/>
            <a:ext cx="2101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Departments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5912074" y="2895600"/>
            <a:ext cx="657587" cy="0"/>
          </a:xfrm>
          <a:prstGeom prst="straightConnector1">
            <a:avLst/>
          </a:prstGeom>
          <a:ln w="476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60612" y="263399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X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653555"/>
              </p:ext>
            </p:extLst>
          </p:nvPr>
        </p:nvGraphicFramePr>
        <p:xfrm>
          <a:off x="1645948" y="4568628"/>
          <a:ext cx="8763348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52949">
                  <a:extLst>
                    <a:ext uri="{9D8B030D-6E8A-4147-A177-3AD203B41FA5}">
                      <a16:colId xmlns:a16="http://schemas.microsoft.com/office/drawing/2014/main" val="18728556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8485579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774347793"/>
                    </a:ext>
                  </a:extLst>
                </a:gridCol>
                <a:gridCol w="2895599">
                  <a:extLst>
                    <a:ext uri="{9D8B030D-6E8A-4147-A177-3AD203B41FA5}">
                      <a16:colId xmlns:a16="http://schemas.microsoft.com/office/drawing/2014/main" val="171930601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EmployeeID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DepartmentID</a:t>
                      </a:r>
                      <a:endParaRPr lang="en-US" i="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DepartmentName</a:t>
                      </a:r>
                      <a:endParaRPr lang="en-US" i="0" noProof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2531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263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43253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Marketing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78739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Purchasing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432737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60612" y="4045408"/>
            <a:ext cx="10840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Result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5912074" y="3404314"/>
            <a:ext cx="657587" cy="0"/>
          </a:xfrm>
          <a:prstGeom prst="straightConnector1">
            <a:avLst/>
          </a:prstGeom>
          <a:ln w="476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60612" y="3142704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113118-2F3C-4344-B4FE-223DFBC83DCB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RIGHT OUTER Join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143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220788" y="2644931"/>
            <a:ext cx="9674224" cy="169543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0" lvl="2"/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SELECT * FROM Employees AS e</a:t>
            </a:r>
          </a:p>
          <a:p>
            <a:pPr marL="0" lvl="2"/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RIGHT OUTER JOIN Departments AS d</a:t>
            </a:r>
          </a:p>
          <a:p>
            <a:pPr marL="0" lvl="2"/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ON e.DepartmentID = d.DepartmentID</a:t>
            </a:r>
            <a:endParaRPr lang="en-US" sz="3200" noProof="1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9062528" y="2644931"/>
            <a:ext cx="2932706" cy="558487"/>
          </a:xfrm>
          <a:prstGeom prst="wedgeRoundRectCallout">
            <a:avLst>
              <a:gd name="adj1" fmla="val -71507"/>
              <a:gd name="adj2" fmla="val 52165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Table Depatments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5713412" y="2030404"/>
            <a:ext cx="2971800" cy="558485"/>
          </a:xfrm>
          <a:prstGeom prst="wedgeRoundRectCallout">
            <a:avLst>
              <a:gd name="adj1" fmla="val -45949"/>
              <a:gd name="adj2" fmla="val 85694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Table Employees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3656012" y="4495800"/>
            <a:ext cx="2150007" cy="856462"/>
          </a:xfrm>
          <a:prstGeom prst="wedgeRoundRectCallout">
            <a:avLst>
              <a:gd name="adj1" fmla="val 46368"/>
              <a:gd name="adj2" fmla="val -78107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Join Conditions</a:t>
            </a:r>
          </a:p>
        </p:txBody>
      </p:sp>
      <p:sp>
        <p:nvSpPr>
          <p:cNvPr id="14" name="AutoShape 7"/>
          <p:cNvSpPr>
            <a:spLocks noChangeArrowheads="1"/>
          </p:cNvSpPr>
          <p:nvPr/>
        </p:nvSpPr>
        <p:spPr bwMode="auto">
          <a:xfrm>
            <a:off x="74612" y="3810000"/>
            <a:ext cx="1371600" cy="737683"/>
          </a:xfrm>
          <a:prstGeom prst="wedgeRoundRectCallout">
            <a:avLst>
              <a:gd name="adj1" fmla="val 75077"/>
              <a:gd name="adj2" fmla="val -68404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Right </a:t>
            </a:r>
            <a:br>
              <a:rPr lang="en-US" sz="2800" noProof="1">
                <a:solidFill>
                  <a:srgbClr val="FFFFFF"/>
                </a:solidFill>
              </a:rPr>
            </a:br>
            <a:r>
              <a:rPr lang="en-US" sz="2800" noProof="1">
                <a:solidFill>
                  <a:srgbClr val="FFFFFF"/>
                </a:solidFill>
              </a:rPr>
              <a:t>Join</a:t>
            </a:r>
          </a:p>
        </p:txBody>
      </p:sp>
      <p:sp>
        <p:nvSpPr>
          <p:cNvPr id="11" name="Content Placeholder 24">
            <a:extLst>
              <a:ext uri="{FF2B5EF4-FFF2-40B4-BE49-F238E27FC236}">
                <a16:creationId xmlns:a16="http://schemas.microsoft.com/office/drawing/2014/main" id="{273161D5-A559-4324-8B9C-942219C96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35" y="1253330"/>
            <a:ext cx="1051286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Syntax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A67B37-59AF-4707-A266-3430922D3F6D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RIGHT OUTER Join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01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9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971494"/>
              </p:ext>
            </p:extLst>
          </p:nvPr>
        </p:nvGraphicFramePr>
        <p:xfrm>
          <a:off x="684212" y="1540198"/>
          <a:ext cx="3962402" cy="1371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31474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230928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EmployeeID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263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270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634117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flipH="1">
            <a:off x="4900178" y="2182619"/>
            <a:ext cx="1593285" cy="0"/>
          </a:xfrm>
          <a:prstGeom prst="straightConnector1">
            <a:avLst/>
          </a:prstGeom>
          <a:ln w="4762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569750" y="995648"/>
            <a:ext cx="17589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Employees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875990"/>
              </p:ext>
            </p:extLst>
          </p:nvPr>
        </p:nvGraphicFramePr>
        <p:xfrm>
          <a:off x="6735331" y="1518868"/>
          <a:ext cx="4722815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45341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577474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DepartmentID</a:t>
                      </a:r>
                      <a:endParaRPr lang="en-US" i="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DepartmentName</a:t>
                      </a:r>
                      <a:endParaRPr lang="en-US" i="0" noProof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Marketing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6535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Purchasing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378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847014" y="947243"/>
            <a:ext cx="2101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Departments</a:t>
            </a:r>
          </a:p>
        </p:txBody>
      </p:sp>
      <p:cxnSp>
        <p:nvCxnSpPr>
          <p:cNvPr id="10" name="Straight Arrow Connector 9"/>
          <p:cNvCxnSpPr>
            <a:endCxn id="12" idx="3"/>
          </p:cNvCxnSpPr>
          <p:nvPr/>
        </p:nvCxnSpPr>
        <p:spPr>
          <a:xfrm flipH="1">
            <a:off x="5942850" y="2639819"/>
            <a:ext cx="550614" cy="0"/>
          </a:xfrm>
          <a:prstGeom prst="straightConnector1">
            <a:avLst/>
          </a:prstGeom>
          <a:ln w="476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561014" y="2378209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X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39523"/>
              </p:ext>
            </p:extLst>
          </p:nvPr>
        </p:nvGraphicFramePr>
        <p:xfrm>
          <a:off x="1569750" y="4077439"/>
          <a:ext cx="8763348" cy="2286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52949">
                  <a:extLst>
                    <a:ext uri="{9D8B030D-6E8A-4147-A177-3AD203B41FA5}">
                      <a16:colId xmlns:a16="http://schemas.microsoft.com/office/drawing/2014/main" val="18728556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8485579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774347793"/>
                    </a:ext>
                  </a:extLst>
                </a:gridCol>
                <a:gridCol w="2895599">
                  <a:extLst>
                    <a:ext uri="{9D8B030D-6E8A-4147-A177-3AD203B41FA5}">
                      <a16:colId xmlns:a16="http://schemas.microsoft.com/office/drawing/2014/main" val="171930601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EmployeeID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DepartmentID</a:t>
                      </a:r>
                      <a:endParaRPr lang="en-US" i="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DepartmentName</a:t>
                      </a:r>
                      <a:endParaRPr lang="en-US" i="0" noProof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2531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263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43253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270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8321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Marketing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78739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Purchasing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432737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09384" y="3554219"/>
            <a:ext cx="10840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Result</a:t>
            </a:r>
          </a:p>
        </p:txBody>
      </p:sp>
      <p:cxnSp>
        <p:nvCxnSpPr>
          <p:cNvPr id="17" name="Straight Arrow Connector 16"/>
          <p:cNvCxnSpPr>
            <a:endCxn id="19" idx="3"/>
          </p:cNvCxnSpPr>
          <p:nvPr/>
        </p:nvCxnSpPr>
        <p:spPr>
          <a:xfrm flipH="1">
            <a:off x="5942850" y="3148533"/>
            <a:ext cx="550614" cy="0"/>
          </a:xfrm>
          <a:prstGeom prst="straightConnector1">
            <a:avLst/>
          </a:prstGeom>
          <a:ln w="476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561014" y="2886923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X</a:t>
            </a:r>
          </a:p>
        </p:txBody>
      </p:sp>
      <p:cxnSp>
        <p:nvCxnSpPr>
          <p:cNvPr id="22" name="Straight Arrow Connector 21"/>
          <p:cNvCxnSpPr>
            <a:endCxn id="12" idx="1"/>
          </p:cNvCxnSpPr>
          <p:nvPr/>
        </p:nvCxnSpPr>
        <p:spPr>
          <a:xfrm>
            <a:off x="4900177" y="2639819"/>
            <a:ext cx="660837" cy="0"/>
          </a:xfrm>
          <a:prstGeom prst="straightConnector1">
            <a:avLst/>
          </a:prstGeom>
          <a:ln w="476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2820D70-C038-49BE-BA03-6BDF6B5B96E3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FULL OUTER Join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995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73" y="2514600"/>
            <a:ext cx="9674224" cy="169543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0" lvl="2"/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SELECT * FROM Employees AS e</a:t>
            </a:r>
          </a:p>
          <a:p>
            <a:pPr marL="0" lvl="2"/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FULL JOIN 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Departments AS d</a:t>
            </a:r>
          </a:p>
          <a:p>
            <a:pPr marL="0" lvl="2"/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e.DepartmentID = d.DepartmentID</a:t>
            </a:r>
            <a:endParaRPr lang="en-US" sz="3200" noProof="1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8759191" y="2815160"/>
            <a:ext cx="2932706" cy="558487"/>
          </a:xfrm>
          <a:prstGeom prst="wedgeRoundRectCallout">
            <a:avLst>
              <a:gd name="adj1" fmla="val -71507"/>
              <a:gd name="adj2" fmla="val 52165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Table Depatments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6297685" y="1844030"/>
            <a:ext cx="2971800" cy="558485"/>
          </a:xfrm>
          <a:prstGeom prst="wedgeRoundRectCallout">
            <a:avLst>
              <a:gd name="adj1" fmla="val -45949"/>
              <a:gd name="adj2" fmla="val 85694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Table Employees</a:t>
            </a:r>
          </a:p>
        </p:txBody>
      </p:sp>
      <p:sp>
        <p:nvSpPr>
          <p:cNvPr id="15" name="AutoShape 7"/>
          <p:cNvSpPr>
            <a:spLocks noChangeArrowheads="1"/>
          </p:cNvSpPr>
          <p:nvPr/>
        </p:nvSpPr>
        <p:spPr bwMode="auto">
          <a:xfrm>
            <a:off x="314397" y="3679669"/>
            <a:ext cx="1371600" cy="737683"/>
          </a:xfrm>
          <a:prstGeom prst="wedgeRoundRectCallout">
            <a:avLst>
              <a:gd name="adj1" fmla="val 75077"/>
              <a:gd name="adj2" fmla="val -68404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Full </a:t>
            </a:r>
            <a:br>
              <a:rPr lang="en-US" sz="2800" noProof="1">
                <a:solidFill>
                  <a:srgbClr val="FFFFFF"/>
                </a:solidFill>
              </a:rPr>
            </a:br>
            <a:r>
              <a:rPr lang="en-US" sz="2800" noProof="1">
                <a:solidFill>
                  <a:srgbClr val="FFFFFF"/>
                </a:solidFill>
              </a:rPr>
              <a:t>Join</a:t>
            </a:r>
          </a:p>
        </p:txBody>
      </p:sp>
      <p:sp>
        <p:nvSpPr>
          <p:cNvPr id="16" name="AutoShape 7"/>
          <p:cNvSpPr>
            <a:spLocks noChangeArrowheads="1"/>
          </p:cNvSpPr>
          <p:nvPr/>
        </p:nvSpPr>
        <p:spPr bwMode="auto">
          <a:xfrm>
            <a:off x="3895797" y="4365469"/>
            <a:ext cx="2150007" cy="856462"/>
          </a:xfrm>
          <a:prstGeom prst="wedgeRoundRectCallout">
            <a:avLst>
              <a:gd name="adj1" fmla="val 46368"/>
              <a:gd name="adj2" fmla="val -78107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Join Conditions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1CBD21-46CB-4EE3-AEFF-F22A2285924A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FULL OUTER Join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4">
            <a:extLst>
              <a:ext uri="{FF2B5EF4-FFF2-40B4-BE49-F238E27FC236}">
                <a16:creationId xmlns:a16="http://schemas.microsoft.com/office/drawing/2014/main" id="{6243D23D-2B32-4534-B1BD-7A1551B6E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35" y="1253330"/>
            <a:ext cx="1051286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300887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559080"/>
              </p:ext>
            </p:extLst>
          </p:nvPr>
        </p:nvGraphicFramePr>
        <p:xfrm>
          <a:off x="760412" y="1458950"/>
          <a:ext cx="3962400" cy="1371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31472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230928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799" kern="1200" noProof="1"/>
                        <a:t>EmployeeID</a:t>
                      </a:r>
                      <a:endParaRPr lang="en-US" sz="1799" b="1" kern="1200" noProof="1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799" kern="1200" noProof="1"/>
                        <a:t>DepartmentID</a:t>
                      </a:r>
                      <a:endParaRPr lang="en-US" sz="1799" b="1" kern="1200" noProof="1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263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EE1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EE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270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634117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4976375" y="2152651"/>
            <a:ext cx="1593286" cy="0"/>
          </a:xfrm>
          <a:prstGeom prst="straightConnector1">
            <a:avLst/>
          </a:prstGeom>
          <a:ln w="476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45948" y="914400"/>
            <a:ext cx="17589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Employees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387133"/>
              </p:ext>
            </p:extLst>
          </p:nvPr>
        </p:nvGraphicFramePr>
        <p:xfrm>
          <a:off x="6811529" y="1409825"/>
          <a:ext cx="4722815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45341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577474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DepartmentID</a:t>
                      </a:r>
                      <a:endParaRPr lang="en-US" i="0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DepartmentName</a:t>
                      </a:r>
                      <a:endParaRPr lang="en-US" i="0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Marketing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6535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Purchasing</a:t>
                      </a:r>
                      <a:endParaRPr lang="bg-BG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378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923212" y="838200"/>
            <a:ext cx="2101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Departments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842705"/>
              </p:ext>
            </p:extLst>
          </p:nvPr>
        </p:nvGraphicFramePr>
        <p:xfrm>
          <a:off x="1903412" y="3581400"/>
          <a:ext cx="8530862" cy="310832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07751">
                  <a:extLst>
                    <a:ext uri="{9D8B030D-6E8A-4147-A177-3AD203B41FA5}">
                      <a16:colId xmlns:a16="http://schemas.microsoft.com/office/drawing/2014/main" val="187285565"/>
                    </a:ext>
                  </a:extLst>
                </a:gridCol>
                <a:gridCol w="2070737">
                  <a:extLst>
                    <a:ext uri="{9D8B030D-6E8A-4147-A177-3AD203B41FA5}">
                      <a16:colId xmlns:a16="http://schemas.microsoft.com/office/drawing/2014/main" val="184855798"/>
                    </a:ext>
                  </a:extLst>
                </a:gridCol>
                <a:gridCol w="2070737">
                  <a:extLst>
                    <a:ext uri="{9D8B030D-6E8A-4147-A177-3AD203B41FA5}">
                      <a16:colId xmlns:a16="http://schemas.microsoft.com/office/drawing/2014/main" val="1774347793"/>
                    </a:ext>
                  </a:extLst>
                </a:gridCol>
                <a:gridCol w="2481637">
                  <a:extLst>
                    <a:ext uri="{9D8B030D-6E8A-4147-A177-3AD203B41FA5}">
                      <a16:colId xmlns:a16="http://schemas.microsoft.com/office/drawing/2014/main" val="1719306019"/>
                    </a:ext>
                  </a:extLst>
                </a:gridCol>
              </a:tblGrid>
              <a:tr h="444046">
                <a:tc>
                  <a:txBody>
                    <a:bodyPr/>
                    <a:lstStyle/>
                    <a:p>
                      <a:r>
                        <a:rPr lang="en-US" sz="2400" noProof="1">
                          <a:solidFill>
                            <a:schemeClr val="tx1"/>
                          </a:solidFill>
                        </a:rPr>
                        <a:t>EmployeeID</a:t>
                      </a:r>
                    </a:p>
                  </a:txBody>
                  <a:tcPr marL="78285" marR="78285" marT="39143" marB="39143"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noProof="1">
                          <a:solidFill>
                            <a:schemeClr val="tx1"/>
                          </a:solidFill>
                        </a:rPr>
                        <a:t>DepartmentID</a:t>
                      </a:r>
                    </a:p>
                  </a:txBody>
                  <a:tcPr marL="78285" marR="78285" marT="39143" marB="39143"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0" noProof="1">
                          <a:solidFill>
                            <a:schemeClr val="tx1"/>
                          </a:solidFill>
                        </a:rPr>
                        <a:t>DepartmentID</a:t>
                      </a:r>
                    </a:p>
                  </a:txBody>
                  <a:tcPr marL="78285" marR="78285" marT="39143" marB="39143"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0" noProof="1">
                          <a:solidFill>
                            <a:schemeClr val="tx1"/>
                          </a:solidFill>
                        </a:rPr>
                        <a:t>DepartmentName</a:t>
                      </a:r>
                    </a:p>
                  </a:txBody>
                  <a:tcPr marL="78285" marR="78285" marT="39143" marB="39143">
                    <a:solidFill>
                      <a:schemeClr val="accent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53151"/>
                  </a:ext>
                </a:extLst>
              </a:tr>
              <a:tr h="444046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263</a:t>
                      </a:r>
                      <a:endParaRPr lang="bg-BG" sz="240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bg-BG" sz="240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bg-BG" sz="2400" i="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0" dirty="0">
                          <a:solidFill>
                            <a:schemeClr val="tx1"/>
                          </a:solidFill>
                        </a:rPr>
                        <a:t>Sales</a:t>
                      </a:r>
                      <a:endParaRPr lang="bg-BG" sz="2400" i="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00B05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432538"/>
                  </a:ext>
                </a:extLst>
              </a:tr>
              <a:tr h="444046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263</a:t>
                      </a:r>
                      <a:endParaRPr lang="bg-BG" sz="240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bg-BG" sz="240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bg-BG" sz="2400" i="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0" dirty="0">
                          <a:solidFill>
                            <a:schemeClr val="tx1"/>
                          </a:solidFill>
                        </a:rPr>
                        <a:t>Marketing</a:t>
                      </a:r>
                      <a:endParaRPr lang="bg-BG" sz="2400" i="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00B05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832188"/>
                  </a:ext>
                </a:extLst>
              </a:tr>
              <a:tr h="444046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263</a:t>
                      </a:r>
                      <a:endParaRPr lang="bg-BG" sz="240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bg-BG" sz="240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bg-BG" sz="2400" i="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i="0" dirty="0">
                          <a:solidFill>
                            <a:schemeClr val="tx1"/>
                          </a:solidFill>
                        </a:rPr>
                        <a:t>Purchasing</a:t>
                      </a:r>
                      <a:endParaRPr lang="bg-BG" sz="2400" i="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00B05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787398"/>
                  </a:ext>
                </a:extLst>
              </a:tr>
              <a:tr h="444046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270</a:t>
                      </a:r>
                      <a:endParaRPr lang="bg-BG" sz="240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F3BE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bg-BG" sz="240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F3BE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bg-BG" sz="2400" i="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F3BE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0" dirty="0">
                          <a:solidFill>
                            <a:schemeClr val="tx1"/>
                          </a:solidFill>
                        </a:rPr>
                        <a:t>Sales</a:t>
                      </a:r>
                      <a:endParaRPr lang="bg-BG" sz="2400" i="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F3BE6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432737"/>
                  </a:ext>
                </a:extLst>
              </a:tr>
              <a:tr h="444046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270</a:t>
                      </a:r>
                      <a:endParaRPr lang="bg-BG" sz="240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F3BE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bg-BG" sz="240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F3BE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bg-BG" sz="2400" i="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F3BE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0" dirty="0">
                          <a:solidFill>
                            <a:schemeClr val="tx1"/>
                          </a:solidFill>
                        </a:rPr>
                        <a:t>Marketing</a:t>
                      </a:r>
                      <a:endParaRPr lang="bg-BG" sz="2400" i="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F3BE6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9950"/>
                  </a:ext>
                </a:extLst>
              </a:tr>
              <a:tr h="444046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270</a:t>
                      </a:r>
                      <a:endParaRPr lang="bg-BG" sz="240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F3BE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bg-BG" sz="240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F3BE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bg-BG" sz="2400" i="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F3BE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i="0" dirty="0">
                          <a:solidFill>
                            <a:schemeClr val="tx1"/>
                          </a:solidFill>
                        </a:rPr>
                        <a:t>Purchasing</a:t>
                      </a:r>
                      <a:endParaRPr lang="bg-BG" sz="2400" i="0" dirty="0">
                        <a:solidFill>
                          <a:schemeClr val="tx1"/>
                        </a:solidFill>
                      </a:endParaRPr>
                    </a:p>
                  </a:txBody>
                  <a:tcPr marL="78285" marR="78285" marT="39143" marB="39143">
                    <a:solidFill>
                      <a:srgbClr val="F3BE6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10989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268620" y="3048000"/>
            <a:ext cx="10840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Result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4976375" y="2152651"/>
            <a:ext cx="1593286" cy="381000"/>
          </a:xfrm>
          <a:prstGeom prst="straightConnector1">
            <a:avLst/>
          </a:prstGeom>
          <a:ln w="476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960317" y="2152651"/>
            <a:ext cx="1609344" cy="838200"/>
          </a:xfrm>
          <a:prstGeom prst="straightConnector1">
            <a:avLst/>
          </a:prstGeom>
          <a:ln w="476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4891270" y="2152650"/>
            <a:ext cx="1834418" cy="419102"/>
          </a:xfrm>
          <a:prstGeom prst="straightConnector1">
            <a:avLst/>
          </a:prstGeom>
          <a:ln w="47625">
            <a:solidFill>
              <a:srgbClr val="F3BE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891270" y="2571752"/>
            <a:ext cx="1838781" cy="19048"/>
          </a:xfrm>
          <a:prstGeom prst="straightConnector1">
            <a:avLst/>
          </a:prstGeom>
          <a:ln w="47625">
            <a:solidFill>
              <a:srgbClr val="F3BE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875212" y="2571752"/>
            <a:ext cx="1854839" cy="476248"/>
          </a:xfrm>
          <a:prstGeom prst="straightConnector1">
            <a:avLst/>
          </a:prstGeom>
          <a:ln w="47625">
            <a:solidFill>
              <a:srgbClr val="F3BE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9A46637-F695-4ED2-BE15-DDEF785E9402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CROSS Join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6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217612" y="2667000"/>
            <a:ext cx="9674224" cy="169543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0" lvl="2"/>
            <a:r>
              <a:rPr lang="en-US" sz="3200" b="1" dirty="0">
                <a:solidFill>
                  <a:schemeClr val="tx2"/>
                </a:solidFill>
                <a:latin typeface="Consolas" panose="020B0609020204030204" pitchFamily="49" charset="0"/>
              </a:rPr>
              <a:t>SELECT * FROM Employees AS e</a:t>
            </a:r>
          </a:p>
          <a:p>
            <a:pPr marL="0" lvl="2"/>
            <a:r>
              <a:rPr lang="en-US" sz="3200" b="1" dirty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CROSS JOIN </a:t>
            </a:r>
            <a:r>
              <a:rPr lang="en-US" sz="3200" b="1" dirty="0">
                <a:solidFill>
                  <a:schemeClr val="tx2"/>
                </a:solidFill>
                <a:latin typeface="Consolas" panose="020B0609020204030204" pitchFamily="49" charset="0"/>
              </a:rPr>
              <a:t>Departments AS d</a:t>
            </a:r>
          </a:p>
          <a:p>
            <a:pPr marL="0" lvl="2"/>
            <a:r>
              <a:rPr lang="en-US" sz="3200" b="1" dirty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endParaRPr lang="en-GB" sz="3200" dirty="0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8422210" y="2956231"/>
            <a:ext cx="2932706" cy="558487"/>
          </a:xfrm>
          <a:prstGeom prst="wedgeRoundRectCallout">
            <a:avLst>
              <a:gd name="adj1" fmla="val -71507"/>
              <a:gd name="adj2" fmla="val 52165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Table Depatments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5806019" y="1920163"/>
            <a:ext cx="2971800" cy="558485"/>
          </a:xfrm>
          <a:prstGeom prst="wedgeRoundRectCallout">
            <a:avLst>
              <a:gd name="adj1" fmla="val -45949"/>
              <a:gd name="adj2" fmla="val 85694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Table Employees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3503612" y="4520309"/>
            <a:ext cx="2150007" cy="856462"/>
          </a:xfrm>
          <a:prstGeom prst="wedgeRoundRectCallout">
            <a:avLst>
              <a:gd name="adj1" fmla="val 26263"/>
              <a:gd name="adj2" fmla="val -76166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No Join Conditions</a:t>
            </a:r>
          </a:p>
        </p:txBody>
      </p:sp>
      <p:sp>
        <p:nvSpPr>
          <p:cNvPr id="15" name="AutoShape 7"/>
          <p:cNvSpPr>
            <a:spLocks noChangeArrowheads="1"/>
          </p:cNvSpPr>
          <p:nvPr/>
        </p:nvSpPr>
        <p:spPr bwMode="auto">
          <a:xfrm>
            <a:off x="74612" y="3810000"/>
            <a:ext cx="1371600" cy="737683"/>
          </a:xfrm>
          <a:prstGeom prst="wedgeRoundRectCallout">
            <a:avLst>
              <a:gd name="adj1" fmla="val 75077"/>
              <a:gd name="adj2" fmla="val -68404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Cross </a:t>
            </a:r>
            <a:br>
              <a:rPr lang="en-US" sz="2800" noProof="1">
                <a:solidFill>
                  <a:srgbClr val="FFFFFF"/>
                </a:solidFill>
              </a:rPr>
            </a:br>
            <a:r>
              <a:rPr lang="en-US" sz="2800" noProof="1">
                <a:solidFill>
                  <a:srgbClr val="FFFFFF"/>
                </a:solidFill>
              </a:rPr>
              <a:t>Join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2ED5C2-0C93-4234-9F7E-33B1D6AC1874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CROSS Join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4">
            <a:extLst>
              <a:ext uri="{FF2B5EF4-FFF2-40B4-BE49-F238E27FC236}">
                <a16:creationId xmlns:a16="http://schemas.microsoft.com/office/drawing/2014/main" id="{F384C5EA-7057-4D65-A80F-76EB107FA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35" y="1253330"/>
            <a:ext cx="1051286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3681712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9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1827212" y="2286000"/>
            <a:ext cx="3276600" cy="457200"/>
            <a:chOff x="1827212" y="30480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" name="Rectangle 4"/>
            <p:cNvSpPr/>
            <p:nvPr/>
          </p:nvSpPr>
          <p:spPr>
            <a:xfrm>
              <a:off x="1827212" y="30480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John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60812" y="30480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827212" y="1828800"/>
            <a:ext cx="3276600" cy="457200"/>
            <a:chOff x="1827212" y="25908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6" name="Rectangle 5"/>
            <p:cNvSpPr/>
            <p:nvPr/>
          </p:nvSpPr>
          <p:spPr>
            <a:xfrm>
              <a:off x="1827212" y="25908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Sally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60812" y="2590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13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827212" y="2743200"/>
            <a:ext cx="3276600" cy="457200"/>
            <a:chOff x="1827212" y="39624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7" name="Rectangle 6"/>
            <p:cNvSpPr/>
            <p:nvPr/>
          </p:nvSpPr>
          <p:spPr>
            <a:xfrm>
              <a:off x="1827212" y="39624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Michael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960812" y="39624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22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827212" y="3200400"/>
            <a:ext cx="3276600" cy="457200"/>
            <a:chOff x="1827212" y="48768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8" name="Rectangle 7"/>
            <p:cNvSpPr/>
            <p:nvPr/>
          </p:nvSpPr>
          <p:spPr>
            <a:xfrm>
              <a:off x="1827212" y="48768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Bob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60812" y="4876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827212" y="4114800"/>
            <a:ext cx="3276600" cy="457200"/>
            <a:chOff x="1827212" y="53340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Rectangle 8"/>
            <p:cNvSpPr/>
            <p:nvPr/>
          </p:nvSpPr>
          <p:spPr>
            <a:xfrm>
              <a:off x="1827212" y="53340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Jessica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960812" y="53340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551612" y="2286000"/>
            <a:ext cx="3810000" cy="457200"/>
            <a:chOff x="6551612" y="30480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6" name="Rectangle 15"/>
            <p:cNvSpPr/>
            <p:nvPr/>
          </p:nvSpPr>
          <p:spPr>
            <a:xfrm flipH="1">
              <a:off x="7694612" y="30480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Marketing</a:t>
              </a:r>
            </a:p>
          </p:txBody>
        </p:sp>
        <p:sp>
          <p:nvSpPr>
            <p:cNvPr id="21" name="Rectangle 20"/>
            <p:cNvSpPr/>
            <p:nvPr/>
          </p:nvSpPr>
          <p:spPr>
            <a:xfrm flipH="1">
              <a:off x="6551612" y="30480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551612" y="3200400"/>
            <a:ext cx="3810000" cy="457200"/>
            <a:chOff x="6551612" y="39624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7" name="Rectangle 16"/>
            <p:cNvSpPr/>
            <p:nvPr/>
          </p:nvSpPr>
          <p:spPr>
            <a:xfrm flipH="1">
              <a:off x="7694612" y="39624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Engineering</a:t>
              </a:r>
            </a:p>
          </p:txBody>
        </p:sp>
        <p:sp>
          <p:nvSpPr>
            <p:cNvPr id="22" name="Rectangle 21"/>
            <p:cNvSpPr/>
            <p:nvPr/>
          </p:nvSpPr>
          <p:spPr>
            <a:xfrm flipH="1">
              <a:off x="6551612" y="39624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22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6551612" y="3657600"/>
            <a:ext cx="3810000" cy="457200"/>
            <a:chOff x="6551612" y="44196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8" name="Rectangle 17"/>
            <p:cNvSpPr/>
            <p:nvPr/>
          </p:nvSpPr>
          <p:spPr>
            <a:xfrm flipH="1">
              <a:off x="7694612" y="44196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Sales</a:t>
              </a:r>
            </a:p>
          </p:txBody>
        </p:sp>
        <p:sp>
          <p:nvSpPr>
            <p:cNvPr id="23" name="Rectangle 22"/>
            <p:cNvSpPr/>
            <p:nvPr/>
          </p:nvSpPr>
          <p:spPr>
            <a:xfrm flipH="1">
              <a:off x="6551612" y="44196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551612" y="4114800"/>
            <a:ext cx="3810000" cy="457200"/>
            <a:chOff x="6551612" y="48768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9" name="Rectangle 18"/>
            <p:cNvSpPr/>
            <p:nvPr/>
          </p:nvSpPr>
          <p:spPr>
            <a:xfrm flipH="1">
              <a:off x="7694612" y="48768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Executive</a:t>
              </a:r>
            </a:p>
          </p:txBody>
        </p:sp>
        <p:sp>
          <p:nvSpPr>
            <p:cNvPr id="24" name="Rectangle 23"/>
            <p:cNvSpPr/>
            <p:nvPr/>
          </p:nvSpPr>
          <p:spPr>
            <a:xfrm flipH="1">
              <a:off x="6551612" y="4876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</p:grpSp>
      <p:cxnSp>
        <p:nvCxnSpPr>
          <p:cNvPr id="42" name="Connector: Elbow 41"/>
          <p:cNvCxnSpPr>
            <a:cxnSpLocks/>
          </p:cNvCxnSpPr>
          <p:nvPr/>
        </p:nvCxnSpPr>
        <p:spPr>
          <a:xfrm rot="16200000" flipH="1">
            <a:off x="5827712" y="3282951"/>
            <a:ext cx="12700" cy="2590800"/>
          </a:xfrm>
          <a:prstGeom prst="bentConnector3">
            <a:avLst>
              <a:gd name="adj1" fmla="val 4538031"/>
            </a:avLst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143007" y="5237491"/>
            <a:ext cx="1382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Relation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1827212" y="3657600"/>
            <a:ext cx="3276600" cy="457200"/>
            <a:chOff x="1827212" y="48768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Rectangle 55"/>
            <p:cNvSpPr/>
            <p:nvPr/>
          </p:nvSpPr>
          <p:spPr>
            <a:xfrm>
              <a:off x="1827212" y="48768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Robin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960812" y="4876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6551612" y="2743200"/>
            <a:ext cx="3810000" cy="457200"/>
            <a:chOff x="6551612" y="44196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9" name="Rectangle 58"/>
            <p:cNvSpPr/>
            <p:nvPr/>
          </p:nvSpPr>
          <p:spPr>
            <a:xfrm flipH="1">
              <a:off x="7694612" y="44196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HR</a:t>
              </a:r>
            </a:p>
          </p:txBody>
        </p:sp>
        <p:sp>
          <p:nvSpPr>
            <p:cNvPr id="60" name="Rectangle 59"/>
            <p:cNvSpPr/>
            <p:nvPr/>
          </p:nvSpPr>
          <p:spPr>
            <a:xfrm flipH="1">
              <a:off x="6551612" y="44196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6551612" y="1828800"/>
            <a:ext cx="3810000" cy="457200"/>
            <a:chOff x="6551612" y="21336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62" name="Rectangle 61"/>
            <p:cNvSpPr/>
            <p:nvPr/>
          </p:nvSpPr>
          <p:spPr>
            <a:xfrm flipH="1">
              <a:off x="7694612" y="21336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Accounting</a:t>
              </a:r>
            </a:p>
          </p:txBody>
        </p:sp>
        <p:sp>
          <p:nvSpPr>
            <p:cNvPr id="63" name="Rectangle 62"/>
            <p:cNvSpPr/>
            <p:nvPr/>
          </p:nvSpPr>
          <p:spPr>
            <a:xfrm flipH="1">
              <a:off x="6551612" y="21336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18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22EA36DA-74EB-4851-9CD7-427763F24E38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Join Overview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941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1674812" y="2209800"/>
            <a:ext cx="3276600" cy="457200"/>
            <a:chOff x="1827212" y="30480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" name="Rectangle 4"/>
            <p:cNvSpPr/>
            <p:nvPr/>
          </p:nvSpPr>
          <p:spPr>
            <a:xfrm>
              <a:off x="1827212" y="30480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John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60812" y="30480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74812" y="1752600"/>
            <a:ext cx="3276600" cy="457200"/>
            <a:chOff x="1827212" y="25908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6" name="Rectangle 5"/>
            <p:cNvSpPr/>
            <p:nvPr/>
          </p:nvSpPr>
          <p:spPr>
            <a:xfrm>
              <a:off x="1827212" y="25908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Sally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60812" y="2590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13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674812" y="3124200"/>
            <a:ext cx="3276600" cy="457200"/>
            <a:chOff x="1827212" y="39624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7" name="Rectangle 6"/>
            <p:cNvSpPr/>
            <p:nvPr/>
          </p:nvSpPr>
          <p:spPr>
            <a:xfrm>
              <a:off x="1827212" y="39624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Michael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960812" y="39624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22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674812" y="4038600"/>
            <a:ext cx="3276600" cy="457200"/>
            <a:chOff x="1827212" y="48768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8" name="Rectangle 7"/>
            <p:cNvSpPr/>
            <p:nvPr/>
          </p:nvSpPr>
          <p:spPr>
            <a:xfrm>
              <a:off x="1827212" y="48768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Bob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60812" y="4876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674812" y="4953000"/>
            <a:ext cx="3276600" cy="457200"/>
            <a:chOff x="1827212" y="53340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Rectangle 8"/>
            <p:cNvSpPr/>
            <p:nvPr/>
          </p:nvSpPr>
          <p:spPr>
            <a:xfrm>
              <a:off x="1827212" y="53340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Jessica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960812" y="53340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399212" y="2209800"/>
            <a:ext cx="3810000" cy="457200"/>
            <a:chOff x="6551612" y="30480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6" name="Rectangle 15"/>
            <p:cNvSpPr/>
            <p:nvPr/>
          </p:nvSpPr>
          <p:spPr>
            <a:xfrm flipH="1">
              <a:off x="7694612" y="30480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Marketing</a:t>
              </a:r>
            </a:p>
          </p:txBody>
        </p:sp>
        <p:sp>
          <p:nvSpPr>
            <p:cNvPr id="21" name="Rectangle 20"/>
            <p:cNvSpPr/>
            <p:nvPr/>
          </p:nvSpPr>
          <p:spPr>
            <a:xfrm flipH="1">
              <a:off x="6551612" y="30480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399212" y="3124200"/>
            <a:ext cx="3810000" cy="457200"/>
            <a:chOff x="6551612" y="39624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7" name="Rectangle 16"/>
            <p:cNvSpPr/>
            <p:nvPr/>
          </p:nvSpPr>
          <p:spPr>
            <a:xfrm flipH="1">
              <a:off x="7694612" y="39624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Engineering</a:t>
              </a:r>
            </a:p>
          </p:txBody>
        </p:sp>
        <p:sp>
          <p:nvSpPr>
            <p:cNvPr id="22" name="Rectangle 21"/>
            <p:cNvSpPr/>
            <p:nvPr/>
          </p:nvSpPr>
          <p:spPr>
            <a:xfrm flipH="1">
              <a:off x="6551612" y="39624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22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6399212" y="3581400"/>
            <a:ext cx="3810000" cy="457200"/>
            <a:chOff x="6551612" y="44196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8" name="Rectangle 17"/>
            <p:cNvSpPr/>
            <p:nvPr/>
          </p:nvSpPr>
          <p:spPr>
            <a:xfrm flipH="1">
              <a:off x="7694612" y="44196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Sales</a:t>
              </a:r>
            </a:p>
          </p:txBody>
        </p:sp>
        <p:sp>
          <p:nvSpPr>
            <p:cNvPr id="23" name="Rectangle 22"/>
            <p:cNvSpPr/>
            <p:nvPr/>
          </p:nvSpPr>
          <p:spPr>
            <a:xfrm flipH="1">
              <a:off x="6551612" y="44196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399212" y="4495800"/>
            <a:ext cx="3810000" cy="457200"/>
            <a:chOff x="6551612" y="48768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9" name="Rectangle 18"/>
            <p:cNvSpPr/>
            <p:nvPr/>
          </p:nvSpPr>
          <p:spPr>
            <a:xfrm flipH="1">
              <a:off x="7694612" y="48768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Executive</a:t>
              </a:r>
            </a:p>
          </p:txBody>
        </p:sp>
        <p:sp>
          <p:nvSpPr>
            <p:cNvPr id="24" name="Rectangle 23"/>
            <p:cNvSpPr/>
            <p:nvPr/>
          </p:nvSpPr>
          <p:spPr>
            <a:xfrm flipH="1">
              <a:off x="6551612" y="4876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6399212" y="1295400"/>
            <a:ext cx="3810000" cy="457200"/>
            <a:chOff x="6551612" y="21336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2" name="Rectangle 51"/>
            <p:cNvSpPr/>
            <p:nvPr/>
          </p:nvSpPr>
          <p:spPr>
            <a:xfrm flipH="1">
              <a:off x="7694612" y="21336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Accounting</a:t>
              </a:r>
            </a:p>
          </p:txBody>
        </p:sp>
        <p:sp>
          <p:nvSpPr>
            <p:cNvPr id="53" name="Rectangle 52"/>
            <p:cNvSpPr/>
            <p:nvPr/>
          </p:nvSpPr>
          <p:spPr>
            <a:xfrm flipH="1">
              <a:off x="6551612" y="21336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18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1674812" y="4495800"/>
            <a:ext cx="3276600" cy="457200"/>
            <a:chOff x="1827212" y="48768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Rectangle 55"/>
            <p:cNvSpPr/>
            <p:nvPr/>
          </p:nvSpPr>
          <p:spPr>
            <a:xfrm>
              <a:off x="1827212" y="48768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Robin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960812" y="4876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6399212" y="2667000"/>
            <a:ext cx="3810000" cy="457200"/>
            <a:chOff x="6551612" y="44196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9" name="Rectangle 58"/>
            <p:cNvSpPr/>
            <p:nvPr/>
          </p:nvSpPr>
          <p:spPr>
            <a:xfrm flipH="1">
              <a:off x="7694612" y="44196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HR</a:t>
              </a:r>
            </a:p>
          </p:txBody>
        </p:sp>
        <p:sp>
          <p:nvSpPr>
            <p:cNvPr id="60" name="Rectangle 59"/>
            <p:cNvSpPr/>
            <p:nvPr/>
          </p:nvSpPr>
          <p:spPr>
            <a:xfrm flipH="1">
              <a:off x="6551612" y="44196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BDF6ADEF-9027-4FAD-A31F-BA41793EB8B6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Join Overview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65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9"/>
          <p:cNvSpPr>
            <a:spLocks noGrp="1"/>
          </p:cNvSpPr>
          <p:nvPr>
            <p:ph idx="1"/>
          </p:nvPr>
        </p:nvSpPr>
        <p:spPr>
          <a:xfrm>
            <a:off x="837982" y="1368425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Inner Join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1827212" y="2286000"/>
            <a:ext cx="3276600" cy="457200"/>
            <a:chOff x="1827212" y="30480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" name="Rectangle 4"/>
            <p:cNvSpPr/>
            <p:nvPr/>
          </p:nvSpPr>
          <p:spPr>
            <a:xfrm>
              <a:off x="1827212" y="30480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John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60812" y="30480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827212" y="3200400"/>
            <a:ext cx="3276600" cy="457200"/>
            <a:chOff x="1827212" y="39624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7" name="Rectangle 6"/>
            <p:cNvSpPr/>
            <p:nvPr/>
          </p:nvSpPr>
          <p:spPr>
            <a:xfrm>
              <a:off x="1827212" y="39624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Michael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960812" y="39624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22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551612" y="2286000"/>
            <a:ext cx="3810000" cy="457200"/>
            <a:chOff x="6551612" y="30480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6" name="Rectangle 15"/>
            <p:cNvSpPr/>
            <p:nvPr/>
          </p:nvSpPr>
          <p:spPr>
            <a:xfrm flipH="1">
              <a:off x="7694612" y="30480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Marketing</a:t>
              </a:r>
            </a:p>
          </p:txBody>
        </p:sp>
        <p:sp>
          <p:nvSpPr>
            <p:cNvPr id="21" name="Rectangle 20"/>
            <p:cNvSpPr/>
            <p:nvPr/>
          </p:nvSpPr>
          <p:spPr>
            <a:xfrm flipH="1">
              <a:off x="6551612" y="30480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551612" y="3200400"/>
            <a:ext cx="3810000" cy="457200"/>
            <a:chOff x="6551612" y="39624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7" name="Rectangle 16"/>
            <p:cNvSpPr/>
            <p:nvPr/>
          </p:nvSpPr>
          <p:spPr>
            <a:xfrm flipH="1">
              <a:off x="7694612" y="39624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Engineering</a:t>
              </a:r>
            </a:p>
          </p:txBody>
        </p:sp>
        <p:sp>
          <p:nvSpPr>
            <p:cNvPr id="22" name="Rectangle 21"/>
            <p:cNvSpPr/>
            <p:nvPr/>
          </p:nvSpPr>
          <p:spPr>
            <a:xfrm flipH="1">
              <a:off x="6551612" y="39624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22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551612" y="4572000"/>
            <a:ext cx="3810000" cy="457200"/>
            <a:chOff x="6551612" y="48768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9" name="Rectangle 18"/>
            <p:cNvSpPr/>
            <p:nvPr/>
          </p:nvSpPr>
          <p:spPr>
            <a:xfrm flipH="1">
              <a:off x="7694612" y="48768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Executive</a:t>
              </a:r>
            </a:p>
          </p:txBody>
        </p:sp>
        <p:sp>
          <p:nvSpPr>
            <p:cNvPr id="24" name="Rectangle 23"/>
            <p:cNvSpPr/>
            <p:nvPr/>
          </p:nvSpPr>
          <p:spPr>
            <a:xfrm flipH="1">
              <a:off x="6551612" y="4876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1827212" y="4572000"/>
            <a:ext cx="3276600" cy="457200"/>
            <a:chOff x="1827212" y="48768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Rectangle 55"/>
            <p:cNvSpPr/>
            <p:nvPr/>
          </p:nvSpPr>
          <p:spPr>
            <a:xfrm>
              <a:off x="1827212" y="48768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Robin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960812" y="4876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1827212" y="1371600"/>
            <a:ext cx="8534400" cy="4114800"/>
            <a:chOff x="1827212" y="1828800"/>
            <a:chExt cx="8534400" cy="4114800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31" name="Group 30"/>
            <p:cNvGrpSpPr/>
            <p:nvPr/>
          </p:nvGrpSpPr>
          <p:grpSpPr>
            <a:xfrm>
              <a:off x="1827212" y="2286000"/>
              <a:ext cx="3276600" cy="457200"/>
              <a:chOff x="1827212" y="2590800"/>
              <a:chExt cx="3276600" cy="457200"/>
            </a:xfrm>
            <a:grpFill/>
          </p:grpSpPr>
          <p:sp>
            <p:nvSpPr>
              <p:cNvPr id="6" name="Rectangle 5"/>
              <p:cNvSpPr/>
              <p:nvPr/>
            </p:nvSpPr>
            <p:spPr>
              <a:xfrm>
                <a:off x="1827212" y="25908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Sally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3960812" y="2590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13</a:t>
                </a: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1827212" y="4572000"/>
              <a:ext cx="3276600" cy="457200"/>
              <a:chOff x="1827212" y="4876800"/>
              <a:chExt cx="3276600" cy="457200"/>
            </a:xfrm>
            <a:grpFill/>
          </p:grpSpPr>
          <p:sp>
            <p:nvSpPr>
              <p:cNvPr id="8" name="Rectangle 7"/>
              <p:cNvSpPr/>
              <p:nvPr/>
            </p:nvSpPr>
            <p:spPr>
              <a:xfrm>
                <a:off x="1827212" y="48768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Bob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3960812" y="4876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11</a:t>
                </a: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1827212" y="5486400"/>
              <a:ext cx="3276600" cy="457200"/>
              <a:chOff x="1827212" y="5334000"/>
              <a:chExt cx="3276600" cy="457200"/>
            </a:xfrm>
            <a:grpFill/>
          </p:grpSpPr>
          <p:sp>
            <p:nvSpPr>
              <p:cNvPr id="9" name="Rectangle 8"/>
              <p:cNvSpPr/>
              <p:nvPr/>
            </p:nvSpPr>
            <p:spPr>
              <a:xfrm>
                <a:off x="1827212" y="53340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Jessica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3960812" y="53340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15</a:t>
                </a: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6551612" y="4114800"/>
              <a:ext cx="3810000" cy="457200"/>
              <a:chOff x="6551612" y="4419600"/>
              <a:chExt cx="3810000" cy="457200"/>
            </a:xfrm>
            <a:grpFill/>
          </p:grpSpPr>
          <p:sp>
            <p:nvSpPr>
              <p:cNvPr id="18" name="Rectangle 17"/>
              <p:cNvSpPr/>
              <p:nvPr/>
            </p:nvSpPr>
            <p:spPr>
              <a:xfrm flipH="1">
                <a:off x="7694612" y="44196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Sales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 flipH="1">
                <a:off x="6551612" y="44196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6551612" y="1828800"/>
              <a:ext cx="3810000" cy="457200"/>
              <a:chOff x="6551612" y="2133600"/>
              <a:chExt cx="3810000" cy="457200"/>
            </a:xfrm>
            <a:grpFill/>
          </p:grpSpPr>
          <p:sp>
            <p:nvSpPr>
              <p:cNvPr id="52" name="Rectangle 51"/>
              <p:cNvSpPr/>
              <p:nvPr/>
            </p:nvSpPr>
            <p:spPr>
              <a:xfrm flipH="1">
                <a:off x="7694612" y="21336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Accounting</a:t>
                </a:r>
              </a:p>
            </p:txBody>
          </p:sp>
          <p:sp>
            <p:nvSpPr>
              <p:cNvPr id="53" name="Rectangle 52"/>
              <p:cNvSpPr/>
              <p:nvPr/>
            </p:nvSpPr>
            <p:spPr>
              <a:xfrm flipH="1">
                <a:off x="6551612" y="21336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18</a:t>
                </a: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6551612" y="3200400"/>
              <a:ext cx="3810000" cy="457200"/>
              <a:chOff x="6551612" y="4419600"/>
              <a:chExt cx="3810000" cy="457200"/>
            </a:xfrm>
            <a:grpFill/>
          </p:grpSpPr>
          <p:sp>
            <p:nvSpPr>
              <p:cNvPr id="59" name="Rectangle 58"/>
              <p:cNvSpPr/>
              <p:nvPr/>
            </p:nvSpPr>
            <p:spPr>
              <a:xfrm flipH="1">
                <a:off x="7694612" y="44196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HR</a:t>
                </a:r>
              </a:p>
            </p:txBody>
          </p:sp>
          <p:sp>
            <p:nvSpPr>
              <p:cNvPr id="60" name="Rectangle 59"/>
              <p:cNvSpPr/>
              <p:nvPr/>
            </p:nvSpPr>
            <p:spPr>
              <a:xfrm flipH="1">
                <a:off x="6551612" y="44196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12</a:t>
                </a:r>
              </a:p>
            </p:txBody>
          </p:sp>
        </p:grpSp>
      </p:grpSp>
      <p:grpSp>
        <p:nvGrpSpPr>
          <p:cNvPr id="29" name="Group 28"/>
          <p:cNvGrpSpPr/>
          <p:nvPr/>
        </p:nvGrpSpPr>
        <p:grpSpPr>
          <a:xfrm>
            <a:off x="5332412" y="2514600"/>
            <a:ext cx="1066800" cy="2286000"/>
            <a:chOff x="5332412" y="2971800"/>
            <a:chExt cx="1066800" cy="2286000"/>
          </a:xfrm>
          <a:solidFill>
            <a:schemeClr val="accent2">
              <a:lumMod val="60000"/>
              <a:lumOff val="40000"/>
            </a:schemeClr>
          </a:solidFill>
        </p:grpSpPr>
        <p:cxnSp>
          <p:nvCxnSpPr>
            <p:cNvPr id="27" name="Straight Arrow Connector 26"/>
            <p:cNvCxnSpPr>
              <a:cxnSpLocks/>
            </p:cNvCxnSpPr>
            <p:nvPr/>
          </p:nvCxnSpPr>
          <p:spPr>
            <a:xfrm>
              <a:off x="5332412" y="2971800"/>
              <a:ext cx="1066800" cy="0"/>
            </a:xfrm>
            <a:prstGeom prst="straightConnector1">
              <a:avLst/>
            </a:prstGeom>
            <a:grpFill/>
            <a:ln w="762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cxnSpLocks/>
            </p:cNvCxnSpPr>
            <p:nvPr/>
          </p:nvCxnSpPr>
          <p:spPr>
            <a:xfrm>
              <a:off x="5332412" y="3886200"/>
              <a:ext cx="1066800" cy="0"/>
            </a:xfrm>
            <a:prstGeom prst="straightConnector1">
              <a:avLst/>
            </a:prstGeom>
            <a:grpFill/>
            <a:ln w="762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cxnSpLocks/>
            </p:cNvCxnSpPr>
            <p:nvPr/>
          </p:nvCxnSpPr>
          <p:spPr>
            <a:xfrm>
              <a:off x="5332412" y="5257800"/>
              <a:ext cx="1066800" cy="0"/>
            </a:xfrm>
            <a:prstGeom prst="straightConnector1">
              <a:avLst/>
            </a:prstGeom>
            <a:grpFill/>
            <a:ln w="762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870D0E1-685F-44EB-91ED-1FB770D3D5E4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Join Overview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133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24"/>
          <p:cNvSpPr>
            <a:spLocks noGrp="1"/>
          </p:cNvSpPr>
          <p:nvPr>
            <p:ph idx="1"/>
          </p:nvPr>
        </p:nvSpPr>
        <p:spPr>
          <a:xfrm>
            <a:off x="837981" y="1019968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Left Outer Join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1827211" y="2170906"/>
            <a:ext cx="3276600" cy="457200"/>
            <a:chOff x="1827212" y="30480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" name="Rectangle 4"/>
            <p:cNvSpPr/>
            <p:nvPr/>
          </p:nvSpPr>
          <p:spPr>
            <a:xfrm>
              <a:off x="1827212" y="30480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John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60812" y="30480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827211" y="1713706"/>
            <a:ext cx="3276600" cy="457200"/>
            <a:chOff x="1827212" y="25908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6" name="Rectangle 5"/>
            <p:cNvSpPr/>
            <p:nvPr/>
          </p:nvSpPr>
          <p:spPr>
            <a:xfrm>
              <a:off x="1827212" y="25908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Sally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60812" y="2590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13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827211" y="3085306"/>
            <a:ext cx="3276600" cy="457200"/>
            <a:chOff x="1827212" y="39624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7" name="Rectangle 6"/>
            <p:cNvSpPr/>
            <p:nvPr/>
          </p:nvSpPr>
          <p:spPr>
            <a:xfrm>
              <a:off x="1827212" y="39624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Michael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960812" y="39624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22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827211" y="3999706"/>
            <a:ext cx="3276600" cy="457200"/>
            <a:chOff x="1827212" y="48768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8" name="Rectangle 7"/>
            <p:cNvSpPr/>
            <p:nvPr/>
          </p:nvSpPr>
          <p:spPr>
            <a:xfrm>
              <a:off x="1827212" y="48768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Bob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60812" y="4876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827211" y="4914106"/>
            <a:ext cx="3276600" cy="457200"/>
            <a:chOff x="1827212" y="53340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Rectangle 8"/>
            <p:cNvSpPr/>
            <p:nvPr/>
          </p:nvSpPr>
          <p:spPr>
            <a:xfrm>
              <a:off x="1827212" y="53340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Jessica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960812" y="53340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551611" y="2170906"/>
            <a:ext cx="3810000" cy="457200"/>
            <a:chOff x="6551612" y="30480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6" name="Rectangle 15"/>
            <p:cNvSpPr/>
            <p:nvPr/>
          </p:nvSpPr>
          <p:spPr>
            <a:xfrm flipH="1">
              <a:off x="7694612" y="30480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Marketing</a:t>
              </a:r>
            </a:p>
          </p:txBody>
        </p:sp>
        <p:sp>
          <p:nvSpPr>
            <p:cNvPr id="21" name="Rectangle 20"/>
            <p:cNvSpPr/>
            <p:nvPr/>
          </p:nvSpPr>
          <p:spPr>
            <a:xfrm flipH="1">
              <a:off x="6551612" y="30480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551611" y="3085306"/>
            <a:ext cx="3810000" cy="457200"/>
            <a:chOff x="6551612" y="39624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7" name="Rectangle 16"/>
            <p:cNvSpPr/>
            <p:nvPr/>
          </p:nvSpPr>
          <p:spPr>
            <a:xfrm flipH="1">
              <a:off x="7694612" y="39624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Engineering</a:t>
              </a:r>
            </a:p>
          </p:txBody>
        </p:sp>
        <p:sp>
          <p:nvSpPr>
            <p:cNvPr id="22" name="Rectangle 21"/>
            <p:cNvSpPr/>
            <p:nvPr/>
          </p:nvSpPr>
          <p:spPr>
            <a:xfrm flipH="1">
              <a:off x="6551612" y="39624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22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551611" y="4456906"/>
            <a:ext cx="3810000" cy="457200"/>
            <a:chOff x="6551612" y="48768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9" name="Rectangle 18"/>
            <p:cNvSpPr/>
            <p:nvPr/>
          </p:nvSpPr>
          <p:spPr>
            <a:xfrm flipH="1">
              <a:off x="7694612" y="48768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Executive</a:t>
              </a:r>
            </a:p>
          </p:txBody>
        </p:sp>
        <p:sp>
          <p:nvSpPr>
            <p:cNvPr id="24" name="Rectangle 23"/>
            <p:cNvSpPr/>
            <p:nvPr/>
          </p:nvSpPr>
          <p:spPr>
            <a:xfrm flipH="1">
              <a:off x="6551612" y="4876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1827211" y="4456906"/>
            <a:ext cx="3276600" cy="457200"/>
            <a:chOff x="1827212" y="48768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Rectangle 55"/>
            <p:cNvSpPr/>
            <p:nvPr/>
          </p:nvSpPr>
          <p:spPr>
            <a:xfrm>
              <a:off x="1827212" y="48768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Robin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960812" y="4876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551611" y="1256506"/>
            <a:ext cx="3810000" cy="2743200"/>
            <a:chOff x="6551612" y="1828800"/>
            <a:chExt cx="3810000" cy="2743200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39" name="Group 38"/>
            <p:cNvGrpSpPr/>
            <p:nvPr/>
          </p:nvGrpSpPr>
          <p:grpSpPr>
            <a:xfrm>
              <a:off x="6551612" y="4114800"/>
              <a:ext cx="3810000" cy="457200"/>
              <a:chOff x="6551612" y="4419600"/>
              <a:chExt cx="3810000" cy="457200"/>
            </a:xfrm>
            <a:grpFill/>
          </p:grpSpPr>
          <p:sp>
            <p:nvSpPr>
              <p:cNvPr id="18" name="Rectangle 17"/>
              <p:cNvSpPr/>
              <p:nvPr/>
            </p:nvSpPr>
            <p:spPr>
              <a:xfrm flipH="1">
                <a:off x="7694612" y="44196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Sales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 flipH="1">
                <a:off x="6551612" y="44196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6551612" y="1828800"/>
              <a:ext cx="3810000" cy="457200"/>
              <a:chOff x="6551612" y="2133600"/>
              <a:chExt cx="3810000" cy="457200"/>
            </a:xfrm>
            <a:grpFill/>
          </p:grpSpPr>
          <p:sp>
            <p:nvSpPr>
              <p:cNvPr id="52" name="Rectangle 51"/>
              <p:cNvSpPr/>
              <p:nvPr/>
            </p:nvSpPr>
            <p:spPr>
              <a:xfrm flipH="1">
                <a:off x="7694612" y="21336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Accounting</a:t>
                </a:r>
              </a:p>
            </p:txBody>
          </p:sp>
          <p:sp>
            <p:nvSpPr>
              <p:cNvPr id="53" name="Rectangle 52"/>
              <p:cNvSpPr/>
              <p:nvPr/>
            </p:nvSpPr>
            <p:spPr>
              <a:xfrm flipH="1">
                <a:off x="6551612" y="21336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18</a:t>
                </a: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6551612" y="3200400"/>
              <a:ext cx="3810000" cy="457200"/>
              <a:chOff x="6551612" y="4419600"/>
              <a:chExt cx="3810000" cy="457200"/>
            </a:xfrm>
            <a:grpFill/>
          </p:grpSpPr>
          <p:sp>
            <p:nvSpPr>
              <p:cNvPr id="59" name="Rectangle 58"/>
              <p:cNvSpPr/>
              <p:nvPr/>
            </p:nvSpPr>
            <p:spPr>
              <a:xfrm flipH="1">
                <a:off x="7694612" y="44196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HR</a:t>
                </a:r>
              </a:p>
            </p:txBody>
          </p:sp>
          <p:sp>
            <p:nvSpPr>
              <p:cNvPr id="60" name="Rectangle 59"/>
              <p:cNvSpPr/>
              <p:nvPr/>
            </p:nvSpPr>
            <p:spPr>
              <a:xfrm flipH="1">
                <a:off x="6551612" y="44196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12</a:t>
                </a:r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6551611" y="1713706"/>
            <a:ext cx="3810000" cy="3657600"/>
            <a:chOff x="6551612" y="2286000"/>
            <a:chExt cx="3810000" cy="3657600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46" name="Group 45"/>
            <p:cNvGrpSpPr/>
            <p:nvPr/>
          </p:nvGrpSpPr>
          <p:grpSpPr>
            <a:xfrm>
              <a:off x="6551612" y="2286000"/>
              <a:ext cx="3810000" cy="457200"/>
              <a:chOff x="6551612" y="4876800"/>
              <a:chExt cx="3810000" cy="457200"/>
            </a:xfrm>
            <a:grpFill/>
          </p:grpSpPr>
          <p:sp>
            <p:nvSpPr>
              <p:cNvPr id="47" name="Rectangle 46"/>
              <p:cNvSpPr/>
              <p:nvPr/>
            </p:nvSpPr>
            <p:spPr>
              <a:xfrm flipH="1">
                <a:off x="7694612" y="48768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48" name="Rectangle 47"/>
              <p:cNvSpPr/>
              <p:nvPr/>
            </p:nvSpPr>
            <p:spPr>
              <a:xfrm flipH="1">
                <a:off x="6551612" y="4876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6551612" y="4572000"/>
              <a:ext cx="3810000" cy="457200"/>
              <a:chOff x="6551612" y="4876800"/>
              <a:chExt cx="3810000" cy="457200"/>
            </a:xfrm>
            <a:grpFill/>
          </p:grpSpPr>
          <p:sp>
            <p:nvSpPr>
              <p:cNvPr id="50" name="Rectangle 49"/>
              <p:cNvSpPr/>
              <p:nvPr/>
            </p:nvSpPr>
            <p:spPr>
              <a:xfrm flipH="1">
                <a:off x="7694612" y="48768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54" name="Rectangle 53"/>
              <p:cNvSpPr/>
              <p:nvPr/>
            </p:nvSpPr>
            <p:spPr>
              <a:xfrm flipH="1">
                <a:off x="6551612" y="4876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6551612" y="5486400"/>
              <a:ext cx="3810000" cy="457200"/>
              <a:chOff x="6551612" y="4876800"/>
              <a:chExt cx="3810000" cy="457200"/>
            </a:xfrm>
            <a:grpFill/>
          </p:grpSpPr>
          <p:sp>
            <p:nvSpPr>
              <p:cNvPr id="62" name="Rectangle 61"/>
              <p:cNvSpPr/>
              <p:nvPr/>
            </p:nvSpPr>
            <p:spPr>
              <a:xfrm flipH="1">
                <a:off x="7694612" y="48768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63" name="Rectangle 62"/>
              <p:cNvSpPr/>
              <p:nvPr/>
            </p:nvSpPr>
            <p:spPr>
              <a:xfrm flipH="1">
                <a:off x="6551612" y="4876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</p:grpSp>
      <p:grpSp>
        <p:nvGrpSpPr>
          <p:cNvPr id="64" name="Group 63"/>
          <p:cNvGrpSpPr/>
          <p:nvPr/>
        </p:nvGrpSpPr>
        <p:grpSpPr>
          <a:xfrm>
            <a:off x="5332411" y="2399506"/>
            <a:ext cx="1066800" cy="2286000"/>
            <a:chOff x="5332412" y="2971800"/>
            <a:chExt cx="1066800" cy="2286000"/>
          </a:xfrm>
          <a:solidFill>
            <a:schemeClr val="accent2">
              <a:lumMod val="60000"/>
              <a:lumOff val="40000"/>
            </a:schemeClr>
          </a:solidFill>
        </p:grpSpPr>
        <p:cxnSp>
          <p:nvCxnSpPr>
            <p:cNvPr id="65" name="Straight Arrow Connector 64"/>
            <p:cNvCxnSpPr>
              <a:cxnSpLocks/>
            </p:cNvCxnSpPr>
            <p:nvPr/>
          </p:nvCxnSpPr>
          <p:spPr>
            <a:xfrm>
              <a:off x="5332412" y="2971800"/>
              <a:ext cx="1066800" cy="0"/>
            </a:xfrm>
            <a:prstGeom prst="straightConnector1">
              <a:avLst/>
            </a:prstGeom>
            <a:grpFill/>
            <a:ln w="762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cxnSpLocks/>
            </p:cNvCxnSpPr>
            <p:nvPr/>
          </p:nvCxnSpPr>
          <p:spPr>
            <a:xfrm>
              <a:off x="5332412" y="3886200"/>
              <a:ext cx="1066800" cy="0"/>
            </a:xfrm>
            <a:prstGeom prst="straightConnector1">
              <a:avLst/>
            </a:prstGeom>
            <a:grpFill/>
            <a:ln w="762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>
              <a:cxnSpLocks/>
            </p:cNvCxnSpPr>
            <p:nvPr/>
          </p:nvCxnSpPr>
          <p:spPr>
            <a:xfrm>
              <a:off x="5332412" y="5257800"/>
              <a:ext cx="1066800" cy="0"/>
            </a:xfrm>
            <a:prstGeom prst="straightConnector1">
              <a:avLst/>
            </a:prstGeom>
            <a:grpFill/>
            <a:ln w="762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713499A1-8B3A-4428-9298-58A4AE6D28C4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Join Overview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96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24"/>
          <p:cNvSpPr>
            <a:spLocks noGrp="1"/>
          </p:cNvSpPr>
          <p:nvPr>
            <p:ph idx="1"/>
          </p:nvPr>
        </p:nvSpPr>
        <p:spPr>
          <a:xfrm>
            <a:off x="837981" y="1143000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Right Outer Join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1827212" y="2583655"/>
            <a:ext cx="3276600" cy="457200"/>
            <a:chOff x="1827212" y="30480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" name="Rectangle 4"/>
            <p:cNvSpPr/>
            <p:nvPr/>
          </p:nvSpPr>
          <p:spPr>
            <a:xfrm>
              <a:off x="1827212" y="30480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John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60812" y="30480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827212" y="3498055"/>
            <a:ext cx="3276600" cy="457200"/>
            <a:chOff x="1827212" y="39624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7" name="Rectangle 6"/>
            <p:cNvSpPr/>
            <p:nvPr/>
          </p:nvSpPr>
          <p:spPr>
            <a:xfrm>
              <a:off x="1827212" y="39624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Michael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960812" y="39624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22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827212" y="2126455"/>
            <a:ext cx="3276600" cy="3657600"/>
            <a:chOff x="1827212" y="2286000"/>
            <a:chExt cx="3276600" cy="3657600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31" name="Group 30"/>
            <p:cNvGrpSpPr/>
            <p:nvPr/>
          </p:nvGrpSpPr>
          <p:grpSpPr>
            <a:xfrm>
              <a:off x="1827212" y="2286000"/>
              <a:ext cx="3276600" cy="457200"/>
              <a:chOff x="1827212" y="2590800"/>
              <a:chExt cx="3276600" cy="457200"/>
            </a:xfrm>
            <a:grpFill/>
          </p:grpSpPr>
          <p:sp>
            <p:nvSpPr>
              <p:cNvPr id="6" name="Rectangle 5"/>
              <p:cNvSpPr/>
              <p:nvPr/>
            </p:nvSpPr>
            <p:spPr>
              <a:xfrm>
                <a:off x="1827212" y="25908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Sally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3960812" y="2590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13</a:t>
                </a: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1827212" y="4572000"/>
              <a:ext cx="3276600" cy="457200"/>
              <a:chOff x="1827212" y="4876800"/>
              <a:chExt cx="3276600" cy="457200"/>
            </a:xfrm>
            <a:grpFill/>
          </p:grpSpPr>
          <p:sp>
            <p:nvSpPr>
              <p:cNvPr id="8" name="Rectangle 7"/>
              <p:cNvSpPr/>
              <p:nvPr/>
            </p:nvSpPr>
            <p:spPr>
              <a:xfrm>
                <a:off x="1827212" y="48768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Bob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3960812" y="4876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11</a:t>
                </a: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1827212" y="5486400"/>
              <a:ext cx="3276600" cy="457200"/>
              <a:chOff x="1827212" y="5334000"/>
              <a:chExt cx="3276600" cy="457200"/>
            </a:xfrm>
            <a:grpFill/>
          </p:grpSpPr>
          <p:sp>
            <p:nvSpPr>
              <p:cNvPr id="9" name="Rectangle 8"/>
              <p:cNvSpPr/>
              <p:nvPr/>
            </p:nvSpPr>
            <p:spPr>
              <a:xfrm>
                <a:off x="1827212" y="53340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Jessica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3960812" y="53340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15</a:t>
                </a:r>
              </a:p>
            </p:txBody>
          </p:sp>
        </p:grpSp>
      </p:grpSp>
      <p:grpSp>
        <p:nvGrpSpPr>
          <p:cNvPr id="37" name="Group 36"/>
          <p:cNvGrpSpPr/>
          <p:nvPr/>
        </p:nvGrpSpPr>
        <p:grpSpPr>
          <a:xfrm>
            <a:off x="6551612" y="2583655"/>
            <a:ext cx="3810000" cy="457200"/>
            <a:chOff x="6551612" y="30480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6" name="Rectangle 15"/>
            <p:cNvSpPr/>
            <p:nvPr/>
          </p:nvSpPr>
          <p:spPr>
            <a:xfrm flipH="1">
              <a:off x="7694612" y="30480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Marketing</a:t>
              </a:r>
            </a:p>
          </p:txBody>
        </p:sp>
        <p:sp>
          <p:nvSpPr>
            <p:cNvPr id="21" name="Rectangle 20"/>
            <p:cNvSpPr/>
            <p:nvPr/>
          </p:nvSpPr>
          <p:spPr>
            <a:xfrm flipH="1">
              <a:off x="6551612" y="30480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551612" y="3498055"/>
            <a:ext cx="3810000" cy="457200"/>
            <a:chOff x="6551612" y="39624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7" name="Rectangle 16"/>
            <p:cNvSpPr/>
            <p:nvPr/>
          </p:nvSpPr>
          <p:spPr>
            <a:xfrm flipH="1">
              <a:off x="7694612" y="39624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Engineering</a:t>
              </a:r>
            </a:p>
          </p:txBody>
        </p:sp>
        <p:sp>
          <p:nvSpPr>
            <p:cNvPr id="22" name="Rectangle 21"/>
            <p:cNvSpPr/>
            <p:nvPr/>
          </p:nvSpPr>
          <p:spPr>
            <a:xfrm flipH="1">
              <a:off x="6551612" y="39624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22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6551612" y="3955255"/>
            <a:ext cx="3810000" cy="457200"/>
            <a:chOff x="6551612" y="44196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8" name="Rectangle 17"/>
            <p:cNvSpPr/>
            <p:nvPr/>
          </p:nvSpPr>
          <p:spPr>
            <a:xfrm flipH="1">
              <a:off x="7694612" y="44196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Sales</a:t>
              </a:r>
            </a:p>
          </p:txBody>
        </p:sp>
        <p:sp>
          <p:nvSpPr>
            <p:cNvPr id="23" name="Rectangle 22"/>
            <p:cNvSpPr/>
            <p:nvPr/>
          </p:nvSpPr>
          <p:spPr>
            <a:xfrm flipH="1">
              <a:off x="6551612" y="44196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551612" y="4869655"/>
            <a:ext cx="3810000" cy="457200"/>
            <a:chOff x="6551612" y="48768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9" name="Rectangle 18"/>
            <p:cNvSpPr/>
            <p:nvPr/>
          </p:nvSpPr>
          <p:spPr>
            <a:xfrm flipH="1">
              <a:off x="7694612" y="48768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Executive</a:t>
              </a:r>
            </a:p>
          </p:txBody>
        </p:sp>
        <p:sp>
          <p:nvSpPr>
            <p:cNvPr id="24" name="Rectangle 23"/>
            <p:cNvSpPr/>
            <p:nvPr/>
          </p:nvSpPr>
          <p:spPr>
            <a:xfrm flipH="1">
              <a:off x="6551612" y="4876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6551612" y="1669255"/>
            <a:ext cx="3810000" cy="457200"/>
            <a:chOff x="6551612" y="21336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2" name="Rectangle 51"/>
            <p:cNvSpPr/>
            <p:nvPr/>
          </p:nvSpPr>
          <p:spPr>
            <a:xfrm flipH="1">
              <a:off x="7694612" y="21336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Accounting</a:t>
              </a:r>
            </a:p>
          </p:txBody>
        </p:sp>
        <p:sp>
          <p:nvSpPr>
            <p:cNvPr id="53" name="Rectangle 52"/>
            <p:cNvSpPr/>
            <p:nvPr/>
          </p:nvSpPr>
          <p:spPr>
            <a:xfrm flipH="1">
              <a:off x="6551612" y="21336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18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1827212" y="4869655"/>
            <a:ext cx="3276600" cy="457200"/>
            <a:chOff x="1827212" y="48768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Rectangle 55"/>
            <p:cNvSpPr/>
            <p:nvPr/>
          </p:nvSpPr>
          <p:spPr>
            <a:xfrm>
              <a:off x="1827212" y="48768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Robin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960812" y="4876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6551612" y="3040855"/>
            <a:ext cx="3810000" cy="457200"/>
            <a:chOff x="6551612" y="44196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9" name="Rectangle 58"/>
            <p:cNvSpPr/>
            <p:nvPr/>
          </p:nvSpPr>
          <p:spPr>
            <a:xfrm flipH="1">
              <a:off x="7694612" y="44196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HR</a:t>
              </a:r>
            </a:p>
          </p:txBody>
        </p:sp>
        <p:sp>
          <p:nvSpPr>
            <p:cNvPr id="60" name="Rectangle 59"/>
            <p:cNvSpPr/>
            <p:nvPr/>
          </p:nvSpPr>
          <p:spPr>
            <a:xfrm flipH="1">
              <a:off x="6551612" y="44196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5332412" y="2812255"/>
            <a:ext cx="1066800" cy="2286000"/>
            <a:chOff x="5332412" y="2971800"/>
            <a:chExt cx="1066800" cy="2286000"/>
          </a:xfrm>
          <a:solidFill>
            <a:schemeClr val="accent2">
              <a:lumMod val="60000"/>
              <a:lumOff val="40000"/>
            </a:schemeClr>
          </a:solidFill>
        </p:grpSpPr>
        <p:cxnSp>
          <p:nvCxnSpPr>
            <p:cNvPr id="42" name="Straight Arrow Connector 41"/>
            <p:cNvCxnSpPr>
              <a:cxnSpLocks/>
            </p:cNvCxnSpPr>
            <p:nvPr/>
          </p:nvCxnSpPr>
          <p:spPr>
            <a:xfrm>
              <a:off x="5332412" y="2971800"/>
              <a:ext cx="1066800" cy="0"/>
            </a:xfrm>
            <a:prstGeom prst="straightConnector1">
              <a:avLst/>
            </a:prstGeom>
            <a:grpFill/>
            <a:ln w="762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cxnSpLocks/>
            </p:cNvCxnSpPr>
            <p:nvPr/>
          </p:nvCxnSpPr>
          <p:spPr>
            <a:xfrm>
              <a:off x="5332412" y="3886200"/>
              <a:ext cx="1066800" cy="0"/>
            </a:xfrm>
            <a:prstGeom prst="straightConnector1">
              <a:avLst/>
            </a:prstGeom>
            <a:grpFill/>
            <a:ln w="762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cxnSpLocks/>
            </p:cNvCxnSpPr>
            <p:nvPr/>
          </p:nvCxnSpPr>
          <p:spPr>
            <a:xfrm>
              <a:off x="5332412" y="5257800"/>
              <a:ext cx="1066800" cy="0"/>
            </a:xfrm>
            <a:prstGeom prst="straightConnector1">
              <a:avLst/>
            </a:prstGeom>
            <a:grpFill/>
            <a:ln w="762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1827212" y="1669255"/>
            <a:ext cx="3276600" cy="2743197"/>
            <a:chOff x="1827212" y="1828800"/>
            <a:chExt cx="3276600" cy="2743197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46" name="Group 45"/>
            <p:cNvGrpSpPr/>
            <p:nvPr/>
          </p:nvGrpSpPr>
          <p:grpSpPr>
            <a:xfrm>
              <a:off x="1827212" y="1828800"/>
              <a:ext cx="3276600" cy="457200"/>
              <a:chOff x="1827212" y="3962400"/>
              <a:chExt cx="3276600" cy="457200"/>
            </a:xfrm>
            <a:grpFill/>
          </p:grpSpPr>
          <p:sp>
            <p:nvSpPr>
              <p:cNvPr id="47" name="Rectangle 46"/>
              <p:cNvSpPr/>
              <p:nvPr/>
            </p:nvSpPr>
            <p:spPr>
              <a:xfrm>
                <a:off x="1827212" y="39624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3960812" y="39624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1827212" y="3200397"/>
              <a:ext cx="3276600" cy="457200"/>
              <a:chOff x="1827212" y="3962400"/>
              <a:chExt cx="3276600" cy="457200"/>
            </a:xfrm>
            <a:grpFill/>
          </p:grpSpPr>
          <p:sp>
            <p:nvSpPr>
              <p:cNvPr id="50" name="Rectangle 49"/>
              <p:cNvSpPr/>
              <p:nvPr/>
            </p:nvSpPr>
            <p:spPr>
              <a:xfrm>
                <a:off x="1827212" y="39624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3960812" y="39624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1827212" y="4114797"/>
              <a:ext cx="3276600" cy="457200"/>
              <a:chOff x="1827212" y="3962400"/>
              <a:chExt cx="3276600" cy="457200"/>
            </a:xfrm>
            <a:grpFill/>
          </p:grpSpPr>
          <p:sp>
            <p:nvSpPr>
              <p:cNvPr id="62" name="Rectangle 61"/>
              <p:cNvSpPr/>
              <p:nvPr/>
            </p:nvSpPr>
            <p:spPr>
              <a:xfrm>
                <a:off x="1827212" y="39624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3960812" y="39624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F4DD814D-94C4-492D-8293-1E84C6707DDA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Join Overview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89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24"/>
          <p:cNvSpPr>
            <a:spLocks noGrp="1"/>
          </p:cNvSpPr>
          <p:nvPr>
            <p:ph idx="1"/>
          </p:nvPr>
        </p:nvSpPr>
        <p:spPr>
          <a:xfrm>
            <a:off x="837981" y="1111175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Full Outer Join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1827212" y="2743200"/>
            <a:ext cx="3276600" cy="457200"/>
            <a:chOff x="1827212" y="30480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" name="Rectangle 4"/>
            <p:cNvSpPr/>
            <p:nvPr/>
          </p:nvSpPr>
          <p:spPr>
            <a:xfrm>
              <a:off x="1827212" y="30480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John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60812" y="30480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827212" y="2286000"/>
            <a:ext cx="3276600" cy="457200"/>
            <a:chOff x="1827212" y="25908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6" name="Rectangle 5"/>
            <p:cNvSpPr/>
            <p:nvPr/>
          </p:nvSpPr>
          <p:spPr>
            <a:xfrm>
              <a:off x="1827212" y="25908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Sally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60812" y="2590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13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827212" y="3657600"/>
            <a:ext cx="3276600" cy="457200"/>
            <a:chOff x="1827212" y="39624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7" name="Rectangle 6"/>
            <p:cNvSpPr/>
            <p:nvPr/>
          </p:nvSpPr>
          <p:spPr>
            <a:xfrm>
              <a:off x="1827212" y="39624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Michael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960812" y="39624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22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827212" y="4572000"/>
            <a:ext cx="3276600" cy="457200"/>
            <a:chOff x="1827212" y="48768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8" name="Rectangle 7"/>
            <p:cNvSpPr/>
            <p:nvPr/>
          </p:nvSpPr>
          <p:spPr>
            <a:xfrm>
              <a:off x="1827212" y="48768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Bob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60812" y="4876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827212" y="5486400"/>
            <a:ext cx="3276600" cy="457200"/>
            <a:chOff x="1827212" y="53340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Rectangle 8"/>
            <p:cNvSpPr/>
            <p:nvPr/>
          </p:nvSpPr>
          <p:spPr>
            <a:xfrm>
              <a:off x="1827212" y="53340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Jessica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960812" y="53340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551612" y="2743200"/>
            <a:ext cx="3810000" cy="457200"/>
            <a:chOff x="6551612" y="30480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6" name="Rectangle 15"/>
            <p:cNvSpPr/>
            <p:nvPr/>
          </p:nvSpPr>
          <p:spPr>
            <a:xfrm flipH="1">
              <a:off x="7694612" y="30480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Marketing</a:t>
              </a:r>
            </a:p>
          </p:txBody>
        </p:sp>
        <p:sp>
          <p:nvSpPr>
            <p:cNvPr id="21" name="Rectangle 20"/>
            <p:cNvSpPr/>
            <p:nvPr/>
          </p:nvSpPr>
          <p:spPr>
            <a:xfrm flipH="1">
              <a:off x="6551612" y="30480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551612" y="3657600"/>
            <a:ext cx="3810000" cy="457200"/>
            <a:chOff x="6551612" y="39624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7" name="Rectangle 16"/>
            <p:cNvSpPr/>
            <p:nvPr/>
          </p:nvSpPr>
          <p:spPr>
            <a:xfrm flipH="1">
              <a:off x="7694612" y="39624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Engineering</a:t>
              </a:r>
            </a:p>
          </p:txBody>
        </p:sp>
        <p:sp>
          <p:nvSpPr>
            <p:cNvPr id="22" name="Rectangle 21"/>
            <p:cNvSpPr/>
            <p:nvPr/>
          </p:nvSpPr>
          <p:spPr>
            <a:xfrm flipH="1">
              <a:off x="6551612" y="39624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22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551612" y="5029200"/>
            <a:ext cx="3810000" cy="457200"/>
            <a:chOff x="6551612" y="48768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9" name="Rectangle 18"/>
            <p:cNvSpPr/>
            <p:nvPr/>
          </p:nvSpPr>
          <p:spPr>
            <a:xfrm flipH="1">
              <a:off x="7694612" y="48768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Executive</a:t>
              </a:r>
            </a:p>
          </p:txBody>
        </p:sp>
        <p:sp>
          <p:nvSpPr>
            <p:cNvPr id="24" name="Rectangle 23"/>
            <p:cNvSpPr/>
            <p:nvPr/>
          </p:nvSpPr>
          <p:spPr>
            <a:xfrm flipH="1">
              <a:off x="6551612" y="4876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1827212" y="5029200"/>
            <a:ext cx="3276600" cy="457200"/>
            <a:chOff x="1827212" y="48768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Rectangle 55"/>
            <p:cNvSpPr/>
            <p:nvPr/>
          </p:nvSpPr>
          <p:spPr>
            <a:xfrm>
              <a:off x="1827212" y="48768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Robin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960812" y="4876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551612" y="1828800"/>
            <a:ext cx="3810000" cy="2743200"/>
            <a:chOff x="6551612" y="1828800"/>
            <a:chExt cx="3810000" cy="2743200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39" name="Group 38"/>
            <p:cNvGrpSpPr/>
            <p:nvPr/>
          </p:nvGrpSpPr>
          <p:grpSpPr>
            <a:xfrm>
              <a:off x="6551612" y="4114800"/>
              <a:ext cx="3810000" cy="457200"/>
              <a:chOff x="6551612" y="4419600"/>
              <a:chExt cx="3810000" cy="457200"/>
            </a:xfrm>
            <a:grpFill/>
          </p:grpSpPr>
          <p:sp>
            <p:nvSpPr>
              <p:cNvPr id="18" name="Rectangle 17"/>
              <p:cNvSpPr/>
              <p:nvPr/>
            </p:nvSpPr>
            <p:spPr>
              <a:xfrm flipH="1">
                <a:off x="7694612" y="44196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Sales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 flipH="1">
                <a:off x="6551612" y="44196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6551612" y="1828800"/>
              <a:ext cx="3810000" cy="457200"/>
              <a:chOff x="6551612" y="2133600"/>
              <a:chExt cx="3810000" cy="457200"/>
            </a:xfrm>
            <a:grpFill/>
          </p:grpSpPr>
          <p:sp>
            <p:nvSpPr>
              <p:cNvPr id="52" name="Rectangle 51"/>
              <p:cNvSpPr/>
              <p:nvPr/>
            </p:nvSpPr>
            <p:spPr>
              <a:xfrm flipH="1">
                <a:off x="7694612" y="21336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Accounting</a:t>
                </a:r>
              </a:p>
            </p:txBody>
          </p:sp>
          <p:sp>
            <p:nvSpPr>
              <p:cNvPr id="53" name="Rectangle 52"/>
              <p:cNvSpPr/>
              <p:nvPr/>
            </p:nvSpPr>
            <p:spPr>
              <a:xfrm flipH="1">
                <a:off x="6551612" y="21336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18</a:t>
                </a: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6551612" y="3200400"/>
              <a:ext cx="3810000" cy="457200"/>
              <a:chOff x="6551612" y="4419600"/>
              <a:chExt cx="3810000" cy="457200"/>
            </a:xfrm>
            <a:grpFill/>
          </p:grpSpPr>
          <p:sp>
            <p:nvSpPr>
              <p:cNvPr id="59" name="Rectangle 58"/>
              <p:cNvSpPr/>
              <p:nvPr/>
            </p:nvSpPr>
            <p:spPr>
              <a:xfrm flipH="1">
                <a:off x="7694612" y="44196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HR</a:t>
                </a:r>
              </a:p>
            </p:txBody>
          </p:sp>
          <p:sp>
            <p:nvSpPr>
              <p:cNvPr id="60" name="Rectangle 59"/>
              <p:cNvSpPr/>
              <p:nvPr/>
            </p:nvSpPr>
            <p:spPr>
              <a:xfrm flipH="1">
                <a:off x="6551612" y="44196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12</a:t>
                </a:r>
              </a:p>
            </p:txBody>
          </p:sp>
        </p:grpSp>
      </p:grpSp>
      <p:grpSp>
        <p:nvGrpSpPr>
          <p:cNvPr id="41" name="Group 40"/>
          <p:cNvGrpSpPr/>
          <p:nvPr/>
        </p:nvGrpSpPr>
        <p:grpSpPr>
          <a:xfrm>
            <a:off x="5332412" y="2971800"/>
            <a:ext cx="1066800" cy="2286000"/>
            <a:chOff x="5332412" y="2971800"/>
            <a:chExt cx="1066800" cy="2286000"/>
          </a:xfrm>
          <a:solidFill>
            <a:schemeClr val="accent2">
              <a:lumMod val="60000"/>
              <a:lumOff val="40000"/>
            </a:schemeClr>
          </a:solidFill>
        </p:grpSpPr>
        <p:cxnSp>
          <p:nvCxnSpPr>
            <p:cNvPr id="42" name="Straight Arrow Connector 41"/>
            <p:cNvCxnSpPr>
              <a:cxnSpLocks/>
            </p:cNvCxnSpPr>
            <p:nvPr/>
          </p:nvCxnSpPr>
          <p:spPr>
            <a:xfrm>
              <a:off x="5332412" y="2971800"/>
              <a:ext cx="1066800" cy="0"/>
            </a:xfrm>
            <a:prstGeom prst="straightConnector1">
              <a:avLst/>
            </a:prstGeom>
            <a:grpFill/>
            <a:ln w="762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cxnSpLocks/>
            </p:cNvCxnSpPr>
            <p:nvPr/>
          </p:nvCxnSpPr>
          <p:spPr>
            <a:xfrm>
              <a:off x="5332412" y="3886200"/>
              <a:ext cx="1066800" cy="0"/>
            </a:xfrm>
            <a:prstGeom prst="straightConnector1">
              <a:avLst/>
            </a:prstGeom>
            <a:grpFill/>
            <a:ln w="762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cxnSpLocks/>
            </p:cNvCxnSpPr>
            <p:nvPr/>
          </p:nvCxnSpPr>
          <p:spPr>
            <a:xfrm>
              <a:off x="5332412" y="5257800"/>
              <a:ext cx="1066800" cy="0"/>
            </a:xfrm>
            <a:prstGeom prst="straightConnector1">
              <a:avLst/>
            </a:prstGeom>
            <a:grpFill/>
            <a:ln w="762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6551612" y="2286000"/>
            <a:ext cx="3810000" cy="3657600"/>
            <a:chOff x="6551612" y="2286000"/>
            <a:chExt cx="3810000" cy="3657600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46" name="Group 45"/>
            <p:cNvGrpSpPr/>
            <p:nvPr/>
          </p:nvGrpSpPr>
          <p:grpSpPr>
            <a:xfrm>
              <a:off x="6551612" y="2286000"/>
              <a:ext cx="3810000" cy="457200"/>
              <a:chOff x="6551612" y="4876800"/>
              <a:chExt cx="3810000" cy="457200"/>
            </a:xfrm>
            <a:grpFill/>
          </p:grpSpPr>
          <p:sp>
            <p:nvSpPr>
              <p:cNvPr id="47" name="Rectangle 46"/>
              <p:cNvSpPr/>
              <p:nvPr/>
            </p:nvSpPr>
            <p:spPr>
              <a:xfrm flipH="1">
                <a:off x="7694612" y="48768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48" name="Rectangle 47"/>
              <p:cNvSpPr/>
              <p:nvPr/>
            </p:nvSpPr>
            <p:spPr>
              <a:xfrm flipH="1">
                <a:off x="6551612" y="4876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6551612" y="4572000"/>
              <a:ext cx="3810000" cy="457200"/>
              <a:chOff x="6551612" y="4876800"/>
              <a:chExt cx="3810000" cy="457200"/>
            </a:xfrm>
            <a:grpFill/>
          </p:grpSpPr>
          <p:sp>
            <p:nvSpPr>
              <p:cNvPr id="50" name="Rectangle 49"/>
              <p:cNvSpPr/>
              <p:nvPr/>
            </p:nvSpPr>
            <p:spPr>
              <a:xfrm flipH="1">
                <a:off x="7694612" y="48768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54" name="Rectangle 53"/>
              <p:cNvSpPr/>
              <p:nvPr/>
            </p:nvSpPr>
            <p:spPr>
              <a:xfrm flipH="1">
                <a:off x="6551612" y="4876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6551612" y="5486400"/>
              <a:ext cx="3810000" cy="457200"/>
              <a:chOff x="6551612" y="4876800"/>
              <a:chExt cx="3810000" cy="457200"/>
            </a:xfrm>
            <a:grpFill/>
          </p:grpSpPr>
          <p:sp>
            <p:nvSpPr>
              <p:cNvPr id="62" name="Rectangle 61"/>
              <p:cNvSpPr/>
              <p:nvPr/>
            </p:nvSpPr>
            <p:spPr>
              <a:xfrm flipH="1">
                <a:off x="7694612" y="48768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63" name="Rectangle 62"/>
              <p:cNvSpPr/>
              <p:nvPr/>
            </p:nvSpPr>
            <p:spPr>
              <a:xfrm flipH="1">
                <a:off x="6551612" y="4876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</p:grpSp>
      <p:grpSp>
        <p:nvGrpSpPr>
          <p:cNvPr id="64" name="Group 63"/>
          <p:cNvGrpSpPr/>
          <p:nvPr/>
        </p:nvGrpSpPr>
        <p:grpSpPr>
          <a:xfrm>
            <a:off x="1827212" y="1828800"/>
            <a:ext cx="3276600" cy="2743197"/>
            <a:chOff x="1827212" y="1828800"/>
            <a:chExt cx="3276600" cy="2743197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65" name="Group 64"/>
            <p:cNvGrpSpPr/>
            <p:nvPr/>
          </p:nvGrpSpPr>
          <p:grpSpPr>
            <a:xfrm>
              <a:off x="1827212" y="1828800"/>
              <a:ext cx="3276600" cy="457200"/>
              <a:chOff x="1827212" y="3962400"/>
              <a:chExt cx="3276600" cy="457200"/>
            </a:xfrm>
            <a:grpFill/>
          </p:grpSpPr>
          <p:sp>
            <p:nvSpPr>
              <p:cNvPr id="72" name="Rectangle 71"/>
              <p:cNvSpPr/>
              <p:nvPr/>
            </p:nvSpPr>
            <p:spPr>
              <a:xfrm>
                <a:off x="1827212" y="39624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3960812" y="39624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  <p:grpSp>
          <p:nvGrpSpPr>
            <p:cNvPr id="66" name="Group 65"/>
            <p:cNvGrpSpPr/>
            <p:nvPr/>
          </p:nvGrpSpPr>
          <p:grpSpPr>
            <a:xfrm>
              <a:off x="1827212" y="3200397"/>
              <a:ext cx="3276600" cy="457200"/>
              <a:chOff x="1827212" y="3962400"/>
              <a:chExt cx="3276600" cy="457200"/>
            </a:xfrm>
            <a:grpFill/>
          </p:grpSpPr>
          <p:sp>
            <p:nvSpPr>
              <p:cNvPr id="70" name="Rectangle 69"/>
              <p:cNvSpPr/>
              <p:nvPr/>
            </p:nvSpPr>
            <p:spPr>
              <a:xfrm>
                <a:off x="1827212" y="39624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3960812" y="39624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1827212" y="4114797"/>
              <a:ext cx="3276600" cy="457200"/>
              <a:chOff x="1827212" y="3962400"/>
              <a:chExt cx="3276600" cy="457200"/>
            </a:xfrm>
            <a:grpFill/>
          </p:grpSpPr>
          <p:sp>
            <p:nvSpPr>
              <p:cNvPr id="68" name="Rectangle 67"/>
              <p:cNvSpPr/>
              <p:nvPr/>
            </p:nvSpPr>
            <p:spPr>
              <a:xfrm>
                <a:off x="1827212" y="39624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3960812" y="39624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E3E91553-FD28-42CA-9D3B-014FF274F51D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Join Overview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673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9"/>
          <p:cNvSpPr>
            <a:spLocks noGrp="1"/>
          </p:cNvSpPr>
          <p:nvPr>
            <p:ph idx="1"/>
          </p:nvPr>
        </p:nvSpPr>
        <p:spPr>
          <a:xfrm>
            <a:off x="837981" y="1073135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Negated Left Outer Join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1903412" y="1981200"/>
            <a:ext cx="3276600" cy="457200"/>
            <a:chOff x="1827212" y="25908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6" name="Rectangle 5"/>
            <p:cNvSpPr/>
            <p:nvPr/>
          </p:nvSpPr>
          <p:spPr>
            <a:xfrm>
              <a:off x="1827212" y="25908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Sally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60812" y="2590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13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903412" y="4267200"/>
            <a:ext cx="3276600" cy="457200"/>
            <a:chOff x="1827212" y="48768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8" name="Rectangle 7"/>
            <p:cNvSpPr/>
            <p:nvPr/>
          </p:nvSpPr>
          <p:spPr>
            <a:xfrm>
              <a:off x="1827212" y="48768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Bob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60812" y="4876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903412" y="5181600"/>
            <a:ext cx="3276600" cy="457200"/>
            <a:chOff x="1827212" y="53340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Rectangle 8"/>
            <p:cNvSpPr/>
            <p:nvPr/>
          </p:nvSpPr>
          <p:spPr>
            <a:xfrm>
              <a:off x="1827212" y="53340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Jessica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960812" y="53340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627812" y="1524000"/>
            <a:ext cx="3810000" cy="2743200"/>
            <a:chOff x="6551612" y="1828800"/>
            <a:chExt cx="3810000" cy="2743200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39" name="Group 38"/>
            <p:cNvGrpSpPr/>
            <p:nvPr/>
          </p:nvGrpSpPr>
          <p:grpSpPr>
            <a:xfrm>
              <a:off x="6551612" y="4114800"/>
              <a:ext cx="3810000" cy="457200"/>
              <a:chOff x="6551612" y="4419600"/>
              <a:chExt cx="3810000" cy="457200"/>
            </a:xfrm>
            <a:grpFill/>
          </p:grpSpPr>
          <p:sp>
            <p:nvSpPr>
              <p:cNvPr id="18" name="Rectangle 17"/>
              <p:cNvSpPr/>
              <p:nvPr/>
            </p:nvSpPr>
            <p:spPr>
              <a:xfrm flipH="1">
                <a:off x="7694612" y="44196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Sales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 flipH="1">
                <a:off x="6551612" y="44196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6551612" y="1828800"/>
              <a:ext cx="3810000" cy="457200"/>
              <a:chOff x="6551612" y="2133600"/>
              <a:chExt cx="3810000" cy="457200"/>
            </a:xfrm>
            <a:grpFill/>
          </p:grpSpPr>
          <p:sp>
            <p:nvSpPr>
              <p:cNvPr id="52" name="Rectangle 51"/>
              <p:cNvSpPr/>
              <p:nvPr/>
            </p:nvSpPr>
            <p:spPr>
              <a:xfrm flipH="1">
                <a:off x="7694612" y="21336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Accounting</a:t>
                </a:r>
              </a:p>
            </p:txBody>
          </p:sp>
          <p:sp>
            <p:nvSpPr>
              <p:cNvPr id="53" name="Rectangle 52"/>
              <p:cNvSpPr/>
              <p:nvPr/>
            </p:nvSpPr>
            <p:spPr>
              <a:xfrm flipH="1">
                <a:off x="6551612" y="21336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18</a:t>
                </a: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6551612" y="3200400"/>
              <a:ext cx="3810000" cy="457200"/>
              <a:chOff x="6551612" y="4419600"/>
              <a:chExt cx="3810000" cy="457200"/>
            </a:xfrm>
            <a:grpFill/>
          </p:grpSpPr>
          <p:sp>
            <p:nvSpPr>
              <p:cNvPr id="59" name="Rectangle 58"/>
              <p:cNvSpPr/>
              <p:nvPr/>
            </p:nvSpPr>
            <p:spPr>
              <a:xfrm flipH="1">
                <a:off x="7694612" y="44196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HR</a:t>
                </a:r>
              </a:p>
            </p:txBody>
          </p:sp>
          <p:sp>
            <p:nvSpPr>
              <p:cNvPr id="60" name="Rectangle 59"/>
              <p:cNvSpPr/>
              <p:nvPr/>
            </p:nvSpPr>
            <p:spPr>
              <a:xfrm flipH="1">
                <a:off x="6551612" y="44196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12</a:t>
                </a:r>
              </a:p>
            </p:txBody>
          </p:sp>
        </p:grpSp>
      </p:grpSp>
      <p:grpSp>
        <p:nvGrpSpPr>
          <p:cNvPr id="20" name="Group 19"/>
          <p:cNvGrpSpPr/>
          <p:nvPr/>
        </p:nvGrpSpPr>
        <p:grpSpPr>
          <a:xfrm>
            <a:off x="1903412" y="2438400"/>
            <a:ext cx="8534400" cy="2743200"/>
            <a:chOff x="1827212" y="2743200"/>
            <a:chExt cx="8534400" cy="2743200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32" name="Group 31"/>
            <p:cNvGrpSpPr/>
            <p:nvPr/>
          </p:nvGrpSpPr>
          <p:grpSpPr>
            <a:xfrm>
              <a:off x="1827212" y="2743200"/>
              <a:ext cx="3276600" cy="457200"/>
              <a:chOff x="1827212" y="3048000"/>
              <a:chExt cx="3276600" cy="457200"/>
            </a:xfrm>
            <a:grpFill/>
          </p:grpSpPr>
          <p:sp>
            <p:nvSpPr>
              <p:cNvPr id="5" name="Rectangle 4"/>
              <p:cNvSpPr/>
              <p:nvPr/>
            </p:nvSpPr>
            <p:spPr>
              <a:xfrm>
                <a:off x="1827212" y="30480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John</a:t>
                </a: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3960812" y="30480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</a:t>
                </a:r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1827212" y="3657600"/>
              <a:ext cx="3276600" cy="457200"/>
              <a:chOff x="1827212" y="3962400"/>
              <a:chExt cx="3276600" cy="457200"/>
            </a:xfrm>
            <a:grpFill/>
          </p:grpSpPr>
          <p:sp>
            <p:nvSpPr>
              <p:cNvPr id="7" name="Rectangle 6"/>
              <p:cNvSpPr/>
              <p:nvPr/>
            </p:nvSpPr>
            <p:spPr>
              <a:xfrm>
                <a:off x="1827212" y="39624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Michael</a:t>
                </a: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3960812" y="39624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22</a:t>
                </a: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6551612" y="2743200"/>
              <a:ext cx="3810000" cy="457200"/>
              <a:chOff x="6551612" y="3048000"/>
              <a:chExt cx="3810000" cy="457200"/>
            </a:xfrm>
            <a:grpFill/>
          </p:grpSpPr>
          <p:sp>
            <p:nvSpPr>
              <p:cNvPr id="16" name="Rectangle 15"/>
              <p:cNvSpPr/>
              <p:nvPr/>
            </p:nvSpPr>
            <p:spPr>
              <a:xfrm flipH="1">
                <a:off x="7694612" y="30480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Marketing</a:t>
                </a:r>
              </a:p>
            </p:txBody>
          </p:sp>
          <p:sp>
            <p:nvSpPr>
              <p:cNvPr id="21" name="Rectangle 20"/>
              <p:cNvSpPr/>
              <p:nvPr/>
            </p:nvSpPr>
            <p:spPr>
              <a:xfrm flipH="1">
                <a:off x="6551612" y="30480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</a:t>
                </a: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6551612" y="3657600"/>
              <a:ext cx="3810000" cy="457200"/>
              <a:chOff x="6551612" y="3962400"/>
              <a:chExt cx="3810000" cy="457200"/>
            </a:xfrm>
            <a:grpFill/>
          </p:grpSpPr>
          <p:sp>
            <p:nvSpPr>
              <p:cNvPr id="17" name="Rectangle 16"/>
              <p:cNvSpPr/>
              <p:nvPr/>
            </p:nvSpPr>
            <p:spPr>
              <a:xfrm flipH="1">
                <a:off x="7694612" y="39624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Engineering</a:t>
                </a:r>
              </a:p>
            </p:txBody>
          </p:sp>
          <p:sp>
            <p:nvSpPr>
              <p:cNvPr id="22" name="Rectangle 21"/>
              <p:cNvSpPr/>
              <p:nvPr/>
            </p:nvSpPr>
            <p:spPr>
              <a:xfrm flipH="1">
                <a:off x="6551612" y="39624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22</a:t>
                </a: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6551612" y="5029200"/>
              <a:ext cx="3810000" cy="457200"/>
              <a:chOff x="6551612" y="4876800"/>
              <a:chExt cx="3810000" cy="457200"/>
            </a:xfrm>
            <a:grpFill/>
          </p:grpSpPr>
          <p:sp>
            <p:nvSpPr>
              <p:cNvPr id="19" name="Rectangle 18"/>
              <p:cNvSpPr/>
              <p:nvPr/>
            </p:nvSpPr>
            <p:spPr>
              <a:xfrm flipH="1">
                <a:off x="7694612" y="48768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Executive</a:t>
                </a:r>
              </a:p>
            </p:txBody>
          </p:sp>
          <p:sp>
            <p:nvSpPr>
              <p:cNvPr id="24" name="Rectangle 23"/>
              <p:cNvSpPr/>
              <p:nvPr/>
            </p:nvSpPr>
            <p:spPr>
              <a:xfrm flipH="1">
                <a:off x="6551612" y="4876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827212" y="5029200"/>
              <a:ext cx="3276600" cy="457200"/>
              <a:chOff x="1827212" y="4876800"/>
              <a:chExt cx="3276600" cy="457200"/>
            </a:xfrm>
            <a:grpFill/>
          </p:grpSpPr>
          <p:sp>
            <p:nvSpPr>
              <p:cNvPr id="56" name="Rectangle 55"/>
              <p:cNvSpPr/>
              <p:nvPr/>
            </p:nvSpPr>
            <p:spPr>
              <a:xfrm>
                <a:off x="1827212" y="48768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Robin</a:t>
                </a:r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3960812" y="4876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5332412" y="2971800"/>
              <a:ext cx="1066800" cy="2286000"/>
              <a:chOff x="5332412" y="2971800"/>
              <a:chExt cx="1066800" cy="2286000"/>
            </a:xfrm>
            <a:grpFill/>
          </p:grpSpPr>
          <p:cxnSp>
            <p:nvCxnSpPr>
              <p:cNvPr id="27" name="Straight Arrow Connector 26"/>
              <p:cNvCxnSpPr>
                <a:cxnSpLocks/>
              </p:cNvCxnSpPr>
              <p:nvPr/>
            </p:nvCxnSpPr>
            <p:spPr>
              <a:xfrm>
                <a:off x="5332412" y="2971800"/>
                <a:ext cx="1066800" cy="0"/>
              </a:xfrm>
              <a:prstGeom prst="straightConnector1">
                <a:avLst/>
              </a:prstGeom>
              <a:grpFill/>
              <a:ln w="7620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/>
              <p:cNvCxnSpPr>
                <a:cxnSpLocks/>
              </p:cNvCxnSpPr>
              <p:nvPr/>
            </p:nvCxnSpPr>
            <p:spPr>
              <a:xfrm>
                <a:off x="5332412" y="3886200"/>
                <a:ext cx="1066800" cy="0"/>
              </a:xfrm>
              <a:prstGeom prst="straightConnector1">
                <a:avLst/>
              </a:prstGeom>
              <a:grpFill/>
              <a:ln w="7620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/>
              <p:cNvCxnSpPr>
                <a:cxnSpLocks/>
              </p:cNvCxnSpPr>
              <p:nvPr/>
            </p:nvCxnSpPr>
            <p:spPr>
              <a:xfrm>
                <a:off x="5332412" y="5257800"/>
                <a:ext cx="1066800" cy="0"/>
              </a:xfrm>
              <a:prstGeom prst="straightConnector1">
                <a:avLst/>
              </a:prstGeom>
              <a:grpFill/>
              <a:ln w="7620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8" name="Group 67"/>
          <p:cNvGrpSpPr/>
          <p:nvPr/>
        </p:nvGrpSpPr>
        <p:grpSpPr>
          <a:xfrm>
            <a:off x="6627812" y="1981200"/>
            <a:ext cx="3810000" cy="3657600"/>
            <a:chOff x="6551612" y="2286000"/>
            <a:chExt cx="3810000" cy="3657600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69" name="Group 68"/>
            <p:cNvGrpSpPr/>
            <p:nvPr/>
          </p:nvGrpSpPr>
          <p:grpSpPr>
            <a:xfrm>
              <a:off x="6551612" y="2286000"/>
              <a:ext cx="3810000" cy="457200"/>
              <a:chOff x="6551612" y="4876800"/>
              <a:chExt cx="3810000" cy="457200"/>
            </a:xfrm>
            <a:grpFill/>
          </p:grpSpPr>
          <p:sp>
            <p:nvSpPr>
              <p:cNvPr id="76" name="Rectangle 75"/>
              <p:cNvSpPr/>
              <p:nvPr/>
            </p:nvSpPr>
            <p:spPr>
              <a:xfrm flipH="1">
                <a:off x="7694612" y="48768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77" name="Rectangle 76"/>
              <p:cNvSpPr/>
              <p:nvPr/>
            </p:nvSpPr>
            <p:spPr>
              <a:xfrm flipH="1">
                <a:off x="6551612" y="4876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6551612" y="4572000"/>
              <a:ext cx="3810000" cy="457200"/>
              <a:chOff x="6551612" y="4876800"/>
              <a:chExt cx="3810000" cy="457200"/>
            </a:xfrm>
            <a:grpFill/>
          </p:grpSpPr>
          <p:sp>
            <p:nvSpPr>
              <p:cNvPr id="74" name="Rectangle 73"/>
              <p:cNvSpPr/>
              <p:nvPr/>
            </p:nvSpPr>
            <p:spPr>
              <a:xfrm flipH="1">
                <a:off x="7694612" y="48768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75" name="Rectangle 74"/>
              <p:cNvSpPr/>
              <p:nvPr/>
            </p:nvSpPr>
            <p:spPr>
              <a:xfrm flipH="1">
                <a:off x="6551612" y="4876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>
              <a:off x="6551612" y="5486400"/>
              <a:ext cx="3810000" cy="457200"/>
              <a:chOff x="6551612" y="4876800"/>
              <a:chExt cx="3810000" cy="457200"/>
            </a:xfrm>
            <a:grpFill/>
          </p:grpSpPr>
          <p:sp>
            <p:nvSpPr>
              <p:cNvPr id="72" name="Rectangle 71"/>
              <p:cNvSpPr/>
              <p:nvPr/>
            </p:nvSpPr>
            <p:spPr>
              <a:xfrm flipH="1">
                <a:off x="7694612" y="48768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73" name="Rectangle 72"/>
              <p:cNvSpPr/>
              <p:nvPr/>
            </p:nvSpPr>
            <p:spPr>
              <a:xfrm flipH="1">
                <a:off x="6551612" y="4876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74B58246-A2B2-4DC6-94DA-6D631E31DE92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Join Overview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7197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24"/>
          <p:cNvSpPr>
            <a:spLocks noGrp="1"/>
          </p:cNvSpPr>
          <p:nvPr>
            <p:ph idx="1"/>
          </p:nvPr>
        </p:nvSpPr>
        <p:spPr>
          <a:xfrm>
            <a:off x="837981" y="1011209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Negated Right Outer Join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827212" y="2286000"/>
            <a:ext cx="3276600" cy="3657600"/>
            <a:chOff x="1827212" y="2286000"/>
            <a:chExt cx="3276600" cy="3657600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31" name="Group 30"/>
            <p:cNvGrpSpPr/>
            <p:nvPr/>
          </p:nvGrpSpPr>
          <p:grpSpPr>
            <a:xfrm>
              <a:off x="1827212" y="2286000"/>
              <a:ext cx="3276600" cy="457200"/>
              <a:chOff x="1827212" y="2590800"/>
              <a:chExt cx="3276600" cy="457200"/>
            </a:xfrm>
            <a:grpFill/>
          </p:grpSpPr>
          <p:sp>
            <p:nvSpPr>
              <p:cNvPr id="6" name="Rectangle 5"/>
              <p:cNvSpPr/>
              <p:nvPr/>
            </p:nvSpPr>
            <p:spPr>
              <a:xfrm>
                <a:off x="1827212" y="25908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Sally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3960812" y="2590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13</a:t>
                </a: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1827212" y="4572000"/>
              <a:ext cx="3276600" cy="457200"/>
              <a:chOff x="1827212" y="4876800"/>
              <a:chExt cx="3276600" cy="457200"/>
            </a:xfrm>
            <a:grpFill/>
          </p:grpSpPr>
          <p:sp>
            <p:nvSpPr>
              <p:cNvPr id="8" name="Rectangle 7"/>
              <p:cNvSpPr/>
              <p:nvPr/>
            </p:nvSpPr>
            <p:spPr>
              <a:xfrm>
                <a:off x="1827212" y="48768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Bob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3960812" y="4876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11</a:t>
                </a: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1827212" y="5486400"/>
              <a:ext cx="3276600" cy="457200"/>
              <a:chOff x="1827212" y="5334000"/>
              <a:chExt cx="3276600" cy="457200"/>
            </a:xfrm>
            <a:grpFill/>
          </p:grpSpPr>
          <p:sp>
            <p:nvSpPr>
              <p:cNvPr id="9" name="Rectangle 8"/>
              <p:cNvSpPr/>
              <p:nvPr/>
            </p:nvSpPr>
            <p:spPr>
              <a:xfrm>
                <a:off x="1827212" y="53340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Jessica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3960812" y="53340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15</a:t>
                </a:r>
              </a:p>
            </p:txBody>
          </p:sp>
        </p:grpSp>
      </p:grpSp>
      <p:grpSp>
        <p:nvGrpSpPr>
          <p:cNvPr id="39" name="Group 38"/>
          <p:cNvGrpSpPr/>
          <p:nvPr/>
        </p:nvGrpSpPr>
        <p:grpSpPr>
          <a:xfrm>
            <a:off x="6551612" y="4114800"/>
            <a:ext cx="3810000" cy="457200"/>
            <a:chOff x="6551612" y="44196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8" name="Rectangle 17"/>
            <p:cNvSpPr/>
            <p:nvPr/>
          </p:nvSpPr>
          <p:spPr>
            <a:xfrm flipH="1">
              <a:off x="7694612" y="44196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Sales</a:t>
              </a:r>
            </a:p>
          </p:txBody>
        </p:sp>
        <p:sp>
          <p:nvSpPr>
            <p:cNvPr id="23" name="Rectangle 22"/>
            <p:cNvSpPr/>
            <p:nvPr/>
          </p:nvSpPr>
          <p:spPr>
            <a:xfrm flipH="1">
              <a:off x="6551612" y="44196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6551612" y="1828800"/>
            <a:ext cx="3810000" cy="457200"/>
            <a:chOff x="6551612" y="21336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2" name="Rectangle 51"/>
            <p:cNvSpPr/>
            <p:nvPr/>
          </p:nvSpPr>
          <p:spPr>
            <a:xfrm flipH="1">
              <a:off x="7694612" y="21336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Accounting</a:t>
              </a:r>
            </a:p>
          </p:txBody>
        </p:sp>
        <p:sp>
          <p:nvSpPr>
            <p:cNvPr id="53" name="Rectangle 52"/>
            <p:cNvSpPr/>
            <p:nvPr/>
          </p:nvSpPr>
          <p:spPr>
            <a:xfrm flipH="1">
              <a:off x="6551612" y="21336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18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6551612" y="3200400"/>
            <a:ext cx="3810000" cy="457200"/>
            <a:chOff x="6551612" y="4419600"/>
            <a:chExt cx="38100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9" name="Rectangle 58"/>
            <p:cNvSpPr/>
            <p:nvPr/>
          </p:nvSpPr>
          <p:spPr>
            <a:xfrm flipH="1">
              <a:off x="7694612" y="4419600"/>
              <a:ext cx="2667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HR</a:t>
              </a:r>
            </a:p>
          </p:txBody>
        </p:sp>
        <p:sp>
          <p:nvSpPr>
            <p:cNvPr id="60" name="Rectangle 59"/>
            <p:cNvSpPr/>
            <p:nvPr/>
          </p:nvSpPr>
          <p:spPr>
            <a:xfrm flipH="1">
              <a:off x="6551612" y="44196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827212" y="2743200"/>
            <a:ext cx="8534400" cy="2743200"/>
            <a:chOff x="1827212" y="2743200"/>
            <a:chExt cx="8534400" cy="2743200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32" name="Group 31"/>
            <p:cNvGrpSpPr/>
            <p:nvPr/>
          </p:nvGrpSpPr>
          <p:grpSpPr>
            <a:xfrm>
              <a:off x="1827212" y="2743200"/>
              <a:ext cx="3276600" cy="457200"/>
              <a:chOff x="1827212" y="3048000"/>
              <a:chExt cx="3276600" cy="457200"/>
            </a:xfrm>
            <a:grpFill/>
          </p:grpSpPr>
          <p:sp>
            <p:nvSpPr>
              <p:cNvPr id="5" name="Rectangle 4"/>
              <p:cNvSpPr/>
              <p:nvPr/>
            </p:nvSpPr>
            <p:spPr>
              <a:xfrm>
                <a:off x="1827212" y="30480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John</a:t>
                </a: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3960812" y="30480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</a:t>
                </a:r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1827212" y="3657600"/>
              <a:ext cx="3276600" cy="457200"/>
              <a:chOff x="1827212" y="3962400"/>
              <a:chExt cx="3276600" cy="457200"/>
            </a:xfrm>
            <a:grpFill/>
          </p:grpSpPr>
          <p:sp>
            <p:nvSpPr>
              <p:cNvPr id="7" name="Rectangle 6"/>
              <p:cNvSpPr/>
              <p:nvPr/>
            </p:nvSpPr>
            <p:spPr>
              <a:xfrm>
                <a:off x="1827212" y="39624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Michael</a:t>
                </a: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3960812" y="39624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22</a:t>
                </a: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6551612" y="2743200"/>
              <a:ext cx="3810000" cy="457200"/>
              <a:chOff x="6551612" y="3048000"/>
              <a:chExt cx="3810000" cy="457200"/>
            </a:xfrm>
            <a:grpFill/>
          </p:grpSpPr>
          <p:sp>
            <p:nvSpPr>
              <p:cNvPr id="16" name="Rectangle 15"/>
              <p:cNvSpPr/>
              <p:nvPr/>
            </p:nvSpPr>
            <p:spPr>
              <a:xfrm flipH="1">
                <a:off x="7694612" y="30480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Marketing</a:t>
                </a:r>
              </a:p>
            </p:txBody>
          </p:sp>
          <p:sp>
            <p:nvSpPr>
              <p:cNvPr id="21" name="Rectangle 20"/>
              <p:cNvSpPr/>
              <p:nvPr/>
            </p:nvSpPr>
            <p:spPr>
              <a:xfrm flipH="1">
                <a:off x="6551612" y="30480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</a:t>
                </a: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6551612" y="3657600"/>
              <a:ext cx="3810000" cy="457200"/>
              <a:chOff x="6551612" y="3962400"/>
              <a:chExt cx="3810000" cy="457200"/>
            </a:xfrm>
            <a:grpFill/>
          </p:grpSpPr>
          <p:sp>
            <p:nvSpPr>
              <p:cNvPr id="17" name="Rectangle 16"/>
              <p:cNvSpPr/>
              <p:nvPr/>
            </p:nvSpPr>
            <p:spPr>
              <a:xfrm flipH="1">
                <a:off x="7694612" y="39624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Engineering</a:t>
                </a:r>
              </a:p>
            </p:txBody>
          </p:sp>
          <p:sp>
            <p:nvSpPr>
              <p:cNvPr id="22" name="Rectangle 21"/>
              <p:cNvSpPr/>
              <p:nvPr/>
            </p:nvSpPr>
            <p:spPr>
              <a:xfrm flipH="1">
                <a:off x="6551612" y="39624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22</a:t>
                </a: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6551612" y="5029200"/>
              <a:ext cx="3810000" cy="457200"/>
              <a:chOff x="6551612" y="4876800"/>
              <a:chExt cx="3810000" cy="457200"/>
            </a:xfrm>
            <a:grpFill/>
          </p:grpSpPr>
          <p:sp>
            <p:nvSpPr>
              <p:cNvPr id="19" name="Rectangle 18"/>
              <p:cNvSpPr/>
              <p:nvPr/>
            </p:nvSpPr>
            <p:spPr>
              <a:xfrm flipH="1">
                <a:off x="7694612" y="48768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Executive</a:t>
                </a:r>
              </a:p>
            </p:txBody>
          </p:sp>
          <p:sp>
            <p:nvSpPr>
              <p:cNvPr id="24" name="Rectangle 23"/>
              <p:cNvSpPr/>
              <p:nvPr/>
            </p:nvSpPr>
            <p:spPr>
              <a:xfrm flipH="1">
                <a:off x="6551612" y="4876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827212" y="5029200"/>
              <a:ext cx="3276600" cy="457200"/>
              <a:chOff x="1827212" y="4876800"/>
              <a:chExt cx="3276600" cy="457200"/>
            </a:xfrm>
            <a:grpFill/>
          </p:grpSpPr>
          <p:sp>
            <p:nvSpPr>
              <p:cNvPr id="56" name="Rectangle 55"/>
              <p:cNvSpPr/>
              <p:nvPr/>
            </p:nvSpPr>
            <p:spPr>
              <a:xfrm>
                <a:off x="1827212" y="48768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Robin</a:t>
                </a:r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3960812" y="4876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5332412" y="2971800"/>
              <a:ext cx="1066800" cy="2286000"/>
              <a:chOff x="5332412" y="2971800"/>
              <a:chExt cx="1066800" cy="2286000"/>
            </a:xfrm>
            <a:grpFill/>
          </p:grpSpPr>
          <p:cxnSp>
            <p:nvCxnSpPr>
              <p:cNvPr id="42" name="Straight Arrow Connector 41"/>
              <p:cNvCxnSpPr>
                <a:cxnSpLocks/>
              </p:cNvCxnSpPr>
              <p:nvPr/>
            </p:nvCxnSpPr>
            <p:spPr>
              <a:xfrm>
                <a:off x="5332412" y="2971800"/>
                <a:ext cx="1066800" cy="0"/>
              </a:xfrm>
              <a:prstGeom prst="straightConnector1">
                <a:avLst/>
              </a:prstGeom>
              <a:grpFill/>
              <a:ln w="7620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/>
              <p:cNvCxnSpPr>
                <a:cxnSpLocks/>
              </p:cNvCxnSpPr>
              <p:nvPr/>
            </p:nvCxnSpPr>
            <p:spPr>
              <a:xfrm>
                <a:off x="5332412" y="3886200"/>
                <a:ext cx="1066800" cy="0"/>
              </a:xfrm>
              <a:prstGeom prst="straightConnector1">
                <a:avLst/>
              </a:prstGeom>
              <a:grpFill/>
              <a:ln w="7620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/>
              <p:cNvCxnSpPr>
                <a:cxnSpLocks/>
              </p:cNvCxnSpPr>
              <p:nvPr/>
            </p:nvCxnSpPr>
            <p:spPr>
              <a:xfrm>
                <a:off x="5332412" y="5257800"/>
                <a:ext cx="1066800" cy="0"/>
              </a:xfrm>
              <a:prstGeom prst="straightConnector1">
                <a:avLst/>
              </a:prstGeom>
              <a:grpFill/>
              <a:ln w="7620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6" name="Group 45"/>
          <p:cNvGrpSpPr/>
          <p:nvPr/>
        </p:nvGrpSpPr>
        <p:grpSpPr>
          <a:xfrm>
            <a:off x="1827212" y="1828800"/>
            <a:ext cx="3276600" cy="2743197"/>
            <a:chOff x="1827212" y="1828800"/>
            <a:chExt cx="3276600" cy="2743197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47" name="Group 46"/>
            <p:cNvGrpSpPr/>
            <p:nvPr/>
          </p:nvGrpSpPr>
          <p:grpSpPr>
            <a:xfrm>
              <a:off x="1827212" y="1828800"/>
              <a:ext cx="3276600" cy="457200"/>
              <a:chOff x="1827212" y="3962400"/>
              <a:chExt cx="3276600" cy="457200"/>
            </a:xfrm>
            <a:grpFill/>
          </p:grpSpPr>
          <p:sp>
            <p:nvSpPr>
              <p:cNvPr id="63" name="Rectangle 62"/>
              <p:cNvSpPr/>
              <p:nvPr/>
            </p:nvSpPr>
            <p:spPr>
              <a:xfrm>
                <a:off x="1827212" y="39624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3960812" y="39624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1827212" y="3200397"/>
              <a:ext cx="3276600" cy="457200"/>
              <a:chOff x="1827212" y="3962400"/>
              <a:chExt cx="3276600" cy="457200"/>
            </a:xfrm>
            <a:grpFill/>
          </p:grpSpPr>
          <p:sp>
            <p:nvSpPr>
              <p:cNvPr id="61" name="Rectangle 60"/>
              <p:cNvSpPr/>
              <p:nvPr/>
            </p:nvSpPr>
            <p:spPr>
              <a:xfrm>
                <a:off x="1827212" y="39624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3960812" y="39624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1827212" y="4114797"/>
              <a:ext cx="3276600" cy="457200"/>
              <a:chOff x="1827212" y="3962400"/>
              <a:chExt cx="3276600" cy="457200"/>
            </a:xfrm>
            <a:grpFill/>
          </p:grpSpPr>
          <p:sp>
            <p:nvSpPr>
              <p:cNvPr id="50" name="Rectangle 49"/>
              <p:cNvSpPr/>
              <p:nvPr/>
            </p:nvSpPr>
            <p:spPr>
              <a:xfrm>
                <a:off x="1827212" y="39624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3960812" y="39624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42088819-F2A9-44D0-A4F9-71FEA7104562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Join Overview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875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24"/>
          <p:cNvSpPr>
            <a:spLocks noGrp="1"/>
          </p:cNvSpPr>
          <p:nvPr>
            <p:ph idx="1"/>
          </p:nvPr>
        </p:nvSpPr>
        <p:spPr>
          <a:xfrm>
            <a:off x="609381" y="968666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Negated Outer Join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1827212" y="2286000"/>
            <a:ext cx="3276600" cy="457200"/>
            <a:chOff x="1827212" y="25908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6" name="Rectangle 5"/>
            <p:cNvSpPr/>
            <p:nvPr/>
          </p:nvSpPr>
          <p:spPr>
            <a:xfrm>
              <a:off x="1827212" y="25908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Sally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60812" y="2590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13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827212" y="4572000"/>
            <a:ext cx="3276600" cy="457200"/>
            <a:chOff x="1827212" y="48768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8" name="Rectangle 7"/>
            <p:cNvSpPr/>
            <p:nvPr/>
          </p:nvSpPr>
          <p:spPr>
            <a:xfrm>
              <a:off x="1827212" y="48768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Bob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60812" y="48768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827212" y="5486400"/>
            <a:ext cx="3276600" cy="457200"/>
            <a:chOff x="1827212" y="5334000"/>
            <a:chExt cx="3276600" cy="4572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Rectangle 8"/>
            <p:cNvSpPr/>
            <p:nvPr/>
          </p:nvSpPr>
          <p:spPr>
            <a:xfrm>
              <a:off x="1827212" y="5334000"/>
              <a:ext cx="21336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Jessica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960812" y="5334000"/>
              <a:ext cx="1143000" cy="457200"/>
            </a:xfrm>
            <a:prstGeom prst="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551612" y="1828800"/>
            <a:ext cx="3810000" cy="2743200"/>
            <a:chOff x="6551612" y="1828800"/>
            <a:chExt cx="3810000" cy="2743200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39" name="Group 38"/>
            <p:cNvGrpSpPr/>
            <p:nvPr/>
          </p:nvGrpSpPr>
          <p:grpSpPr>
            <a:xfrm>
              <a:off x="6551612" y="4114800"/>
              <a:ext cx="3810000" cy="457200"/>
              <a:chOff x="6551612" y="4419600"/>
              <a:chExt cx="3810000" cy="457200"/>
            </a:xfrm>
            <a:grpFill/>
          </p:grpSpPr>
          <p:sp>
            <p:nvSpPr>
              <p:cNvPr id="18" name="Rectangle 17"/>
              <p:cNvSpPr/>
              <p:nvPr/>
            </p:nvSpPr>
            <p:spPr>
              <a:xfrm flipH="1">
                <a:off x="7694612" y="44196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Sales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 flipH="1">
                <a:off x="6551612" y="44196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6551612" y="1828800"/>
              <a:ext cx="3810000" cy="457200"/>
              <a:chOff x="6551612" y="2133600"/>
              <a:chExt cx="3810000" cy="457200"/>
            </a:xfrm>
            <a:grpFill/>
          </p:grpSpPr>
          <p:sp>
            <p:nvSpPr>
              <p:cNvPr id="52" name="Rectangle 51"/>
              <p:cNvSpPr/>
              <p:nvPr/>
            </p:nvSpPr>
            <p:spPr>
              <a:xfrm flipH="1">
                <a:off x="7694612" y="21336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Accounting</a:t>
                </a:r>
              </a:p>
            </p:txBody>
          </p:sp>
          <p:sp>
            <p:nvSpPr>
              <p:cNvPr id="53" name="Rectangle 52"/>
              <p:cNvSpPr/>
              <p:nvPr/>
            </p:nvSpPr>
            <p:spPr>
              <a:xfrm flipH="1">
                <a:off x="6551612" y="21336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18</a:t>
                </a: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6551612" y="3200400"/>
              <a:ext cx="3810000" cy="457200"/>
              <a:chOff x="6551612" y="4419600"/>
              <a:chExt cx="3810000" cy="457200"/>
            </a:xfrm>
            <a:grpFill/>
          </p:grpSpPr>
          <p:sp>
            <p:nvSpPr>
              <p:cNvPr id="59" name="Rectangle 58"/>
              <p:cNvSpPr/>
              <p:nvPr/>
            </p:nvSpPr>
            <p:spPr>
              <a:xfrm flipH="1">
                <a:off x="7694612" y="44196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HR</a:t>
                </a:r>
              </a:p>
            </p:txBody>
          </p:sp>
          <p:sp>
            <p:nvSpPr>
              <p:cNvPr id="60" name="Rectangle 59"/>
              <p:cNvSpPr/>
              <p:nvPr/>
            </p:nvSpPr>
            <p:spPr>
              <a:xfrm flipH="1">
                <a:off x="6551612" y="44196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12</a:t>
                </a:r>
              </a:p>
            </p:txBody>
          </p:sp>
        </p:grpSp>
      </p:grpSp>
      <p:grpSp>
        <p:nvGrpSpPr>
          <p:cNvPr id="20" name="Group 19"/>
          <p:cNvGrpSpPr/>
          <p:nvPr/>
        </p:nvGrpSpPr>
        <p:grpSpPr>
          <a:xfrm>
            <a:off x="1827212" y="2743200"/>
            <a:ext cx="8534400" cy="2743200"/>
            <a:chOff x="1827212" y="2743200"/>
            <a:chExt cx="8534400" cy="2743200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32" name="Group 31"/>
            <p:cNvGrpSpPr/>
            <p:nvPr/>
          </p:nvGrpSpPr>
          <p:grpSpPr>
            <a:xfrm>
              <a:off x="1827212" y="2743200"/>
              <a:ext cx="3276600" cy="457200"/>
              <a:chOff x="1827212" y="3048000"/>
              <a:chExt cx="3276600" cy="457200"/>
            </a:xfrm>
            <a:grpFill/>
          </p:grpSpPr>
          <p:sp>
            <p:nvSpPr>
              <p:cNvPr id="5" name="Rectangle 4"/>
              <p:cNvSpPr/>
              <p:nvPr/>
            </p:nvSpPr>
            <p:spPr>
              <a:xfrm>
                <a:off x="1827212" y="30480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John</a:t>
                </a: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3960812" y="30480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</a:t>
                </a:r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1827212" y="3657600"/>
              <a:ext cx="3276600" cy="457200"/>
              <a:chOff x="1827212" y="3962400"/>
              <a:chExt cx="3276600" cy="457200"/>
            </a:xfrm>
            <a:grpFill/>
          </p:grpSpPr>
          <p:sp>
            <p:nvSpPr>
              <p:cNvPr id="7" name="Rectangle 6"/>
              <p:cNvSpPr/>
              <p:nvPr/>
            </p:nvSpPr>
            <p:spPr>
              <a:xfrm>
                <a:off x="1827212" y="39624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Michael</a:t>
                </a: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3960812" y="39624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22</a:t>
                </a: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6551612" y="2743200"/>
              <a:ext cx="3810000" cy="457200"/>
              <a:chOff x="6551612" y="3048000"/>
              <a:chExt cx="3810000" cy="457200"/>
            </a:xfrm>
            <a:grpFill/>
          </p:grpSpPr>
          <p:sp>
            <p:nvSpPr>
              <p:cNvPr id="16" name="Rectangle 15"/>
              <p:cNvSpPr/>
              <p:nvPr/>
            </p:nvSpPr>
            <p:spPr>
              <a:xfrm flipH="1">
                <a:off x="7694612" y="30480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Marketing</a:t>
                </a:r>
              </a:p>
            </p:txBody>
          </p:sp>
          <p:sp>
            <p:nvSpPr>
              <p:cNvPr id="21" name="Rectangle 20"/>
              <p:cNvSpPr/>
              <p:nvPr/>
            </p:nvSpPr>
            <p:spPr>
              <a:xfrm flipH="1">
                <a:off x="6551612" y="30480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</a:t>
                </a: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6551612" y="3657600"/>
              <a:ext cx="3810000" cy="457200"/>
              <a:chOff x="6551612" y="3962400"/>
              <a:chExt cx="3810000" cy="457200"/>
            </a:xfrm>
            <a:grpFill/>
          </p:grpSpPr>
          <p:sp>
            <p:nvSpPr>
              <p:cNvPr id="17" name="Rectangle 16"/>
              <p:cNvSpPr/>
              <p:nvPr/>
            </p:nvSpPr>
            <p:spPr>
              <a:xfrm flipH="1">
                <a:off x="7694612" y="39624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Engineering</a:t>
                </a:r>
              </a:p>
            </p:txBody>
          </p:sp>
          <p:sp>
            <p:nvSpPr>
              <p:cNvPr id="22" name="Rectangle 21"/>
              <p:cNvSpPr/>
              <p:nvPr/>
            </p:nvSpPr>
            <p:spPr>
              <a:xfrm flipH="1">
                <a:off x="6551612" y="39624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22</a:t>
                </a: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6551612" y="5029200"/>
              <a:ext cx="3810000" cy="457200"/>
              <a:chOff x="6551612" y="4876800"/>
              <a:chExt cx="3810000" cy="457200"/>
            </a:xfrm>
            <a:grpFill/>
          </p:grpSpPr>
          <p:sp>
            <p:nvSpPr>
              <p:cNvPr id="19" name="Rectangle 18"/>
              <p:cNvSpPr/>
              <p:nvPr/>
            </p:nvSpPr>
            <p:spPr>
              <a:xfrm flipH="1">
                <a:off x="7694612" y="48768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Executive</a:t>
                </a:r>
              </a:p>
            </p:txBody>
          </p:sp>
          <p:sp>
            <p:nvSpPr>
              <p:cNvPr id="24" name="Rectangle 23"/>
              <p:cNvSpPr/>
              <p:nvPr/>
            </p:nvSpPr>
            <p:spPr>
              <a:xfrm flipH="1">
                <a:off x="6551612" y="4876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827212" y="5029200"/>
              <a:ext cx="3276600" cy="457200"/>
              <a:chOff x="1827212" y="4876800"/>
              <a:chExt cx="3276600" cy="457200"/>
            </a:xfrm>
            <a:grpFill/>
          </p:grpSpPr>
          <p:sp>
            <p:nvSpPr>
              <p:cNvPr id="56" name="Rectangle 55"/>
              <p:cNvSpPr/>
              <p:nvPr/>
            </p:nvSpPr>
            <p:spPr>
              <a:xfrm>
                <a:off x="1827212" y="48768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Robin</a:t>
                </a:r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3960812" y="4876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5332412" y="2971800"/>
              <a:ext cx="1066800" cy="2286000"/>
              <a:chOff x="5332412" y="2971800"/>
              <a:chExt cx="1066800" cy="2286000"/>
            </a:xfrm>
            <a:grpFill/>
          </p:grpSpPr>
          <p:cxnSp>
            <p:nvCxnSpPr>
              <p:cNvPr id="42" name="Straight Arrow Connector 41"/>
              <p:cNvCxnSpPr>
                <a:cxnSpLocks/>
              </p:cNvCxnSpPr>
              <p:nvPr/>
            </p:nvCxnSpPr>
            <p:spPr>
              <a:xfrm>
                <a:off x="5332412" y="2971800"/>
                <a:ext cx="1066800" cy="0"/>
              </a:xfrm>
              <a:prstGeom prst="straightConnector1">
                <a:avLst/>
              </a:prstGeom>
              <a:grpFill/>
              <a:ln w="7620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/>
              <p:cNvCxnSpPr>
                <a:cxnSpLocks/>
              </p:cNvCxnSpPr>
              <p:nvPr/>
            </p:nvCxnSpPr>
            <p:spPr>
              <a:xfrm>
                <a:off x="5332412" y="3886200"/>
                <a:ext cx="1066800" cy="0"/>
              </a:xfrm>
              <a:prstGeom prst="straightConnector1">
                <a:avLst/>
              </a:prstGeom>
              <a:grpFill/>
              <a:ln w="7620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/>
              <p:cNvCxnSpPr>
                <a:cxnSpLocks/>
              </p:cNvCxnSpPr>
              <p:nvPr/>
            </p:nvCxnSpPr>
            <p:spPr>
              <a:xfrm>
                <a:off x="5332412" y="5257800"/>
                <a:ext cx="1066800" cy="0"/>
              </a:xfrm>
              <a:prstGeom prst="straightConnector1">
                <a:avLst/>
              </a:prstGeom>
              <a:grpFill/>
              <a:ln w="7620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/>
          <p:cNvGrpSpPr/>
          <p:nvPr/>
        </p:nvGrpSpPr>
        <p:grpSpPr>
          <a:xfrm>
            <a:off x="6551612" y="2286000"/>
            <a:ext cx="3810000" cy="3657600"/>
            <a:chOff x="6551612" y="2286000"/>
            <a:chExt cx="3810000" cy="3657600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46" name="Group 45"/>
            <p:cNvGrpSpPr/>
            <p:nvPr/>
          </p:nvGrpSpPr>
          <p:grpSpPr>
            <a:xfrm>
              <a:off x="6551612" y="2286000"/>
              <a:ext cx="3810000" cy="457200"/>
              <a:chOff x="6551612" y="4876800"/>
              <a:chExt cx="3810000" cy="457200"/>
            </a:xfrm>
            <a:grpFill/>
          </p:grpSpPr>
          <p:sp>
            <p:nvSpPr>
              <p:cNvPr id="47" name="Rectangle 46"/>
              <p:cNvSpPr/>
              <p:nvPr/>
            </p:nvSpPr>
            <p:spPr>
              <a:xfrm flipH="1">
                <a:off x="7694612" y="48768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48" name="Rectangle 47"/>
              <p:cNvSpPr/>
              <p:nvPr/>
            </p:nvSpPr>
            <p:spPr>
              <a:xfrm flipH="1">
                <a:off x="6551612" y="4876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6551612" y="4572000"/>
              <a:ext cx="3810000" cy="457200"/>
              <a:chOff x="6551612" y="4876800"/>
              <a:chExt cx="3810000" cy="457200"/>
            </a:xfrm>
            <a:grpFill/>
          </p:grpSpPr>
          <p:sp>
            <p:nvSpPr>
              <p:cNvPr id="50" name="Rectangle 49"/>
              <p:cNvSpPr/>
              <p:nvPr/>
            </p:nvSpPr>
            <p:spPr>
              <a:xfrm flipH="1">
                <a:off x="7694612" y="48768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54" name="Rectangle 53"/>
              <p:cNvSpPr/>
              <p:nvPr/>
            </p:nvSpPr>
            <p:spPr>
              <a:xfrm flipH="1">
                <a:off x="6551612" y="4876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6551612" y="5486400"/>
              <a:ext cx="3810000" cy="457200"/>
              <a:chOff x="6551612" y="4876800"/>
              <a:chExt cx="3810000" cy="457200"/>
            </a:xfrm>
            <a:grpFill/>
          </p:grpSpPr>
          <p:sp>
            <p:nvSpPr>
              <p:cNvPr id="62" name="Rectangle 61"/>
              <p:cNvSpPr/>
              <p:nvPr/>
            </p:nvSpPr>
            <p:spPr>
              <a:xfrm flipH="1">
                <a:off x="7694612" y="4876800"/>
                <a:ext cx="2667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63" name="Rectangle 62"/>
              <p:cNvSpPr/>
              <p:nvPr/>
            </p:nvSpPr>
            <p:spPr>
              <a:xfrm flipH="1">
                <a:off x="6551612" y="48768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</p:grpSp>
      <p:grpSp>
        <p:nvGrpSpPr>
          <p:cNvPr id="64" name="Group 63"/>
          <p:cNvGrpSpPr/>
          <p:nvPr/>
        </p:nvGrpSpPr>
        <p:grpSpPr>
          <a:xfrm>
            <a:off x="1827212" y="1828800"/>
            <a:ext cx="3276600" cy="2743197"/>
            <a:chOff x="1827212" y="1828800"/>
            <a:chExt cx="3276600" cy="2743197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65" name="Group 64"/>
            <p:cNvGrpSpPr/>
            <p:nvPr/>
          </p:nvGrpSpPr>
          <p:grpSpPr>
            <a:xfrm>
              <a:off x="1827212" y="1828800"/>
              <a:ext cx="3276600" cy="457200"/>
              <a:chOff x="1827212" y="3962400"/>
              <a:chExt cx="3276600" cy="457200"/>
            </a:xfrm>
            <a:grpFill/>
          </p:grpSpPr>
          <p:sp>
            <p:nvSpPr>
              <p:cNvPr id="72" name="Rectangle 71"/>
              <p:cNvSpPr/>
              <p:nvPr/>
            </p:nvSpPr>
            <p:spPr>
              <a:xfrm>
                <a:off x="1827212" y="39624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3960812" y="39624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  <p:grpSp>
          <p:nvGrpSpPr>
            <p:cNvPr id="66" name="Group 65"/>
            <p:cNvGrpSpPr/>
            <p:nvPr/>
          </p:nvGrpSpPr>
          <p:grpSpPr>
            <a:xfrm>
              <a:off x="1827212" y="3200397"/>
              <a:ext cx="3276600" cy="457200"/>
              <a:chOff x="1827212" y="3962400"/>
              <a:chExt cx="3276600" cy="457200"/>
            </a:xfrm>
            <a:grpFill/>
          </p:grpSpPr>
          <p:sp>
            <p:nvSpPr>
              <p:cNvPr id="70" name="Rectangle 69"/>
              <p:cNvSpPr/>
              <p:nvPr/>
            </p:nvSpPr>
            <p:spPr>
              <a:xfrm>
                <a:off x="1827212" y="39624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3960812" y="39624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1827212" y="4114797"/>
              <a:ext cx="3276600" cy="457200"/>
              <a:chOff x="1827212" y="3962400"/>
              <a:chExt cx="3276600" cy="457200"/>
            </a:xfrm>
            <a:grpFill/>
          </p:grpSpPr>
          <p:sp>
            <p:nvSpPr>
              <p:cNvPr id="68" name="Rectangle 67"/>
              <p:cNvSpPr/>
              <p:nvPr/>
            </p:nvSpPr>
            <p:spPr>
              <a:xfrm>
                <a:off x="1827212" y="3962400"/>
                <a:ext cx="21336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3960812" y="3962400"/>
                <a:ext cx="1143000" cy="45720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</a:rPr>
                  <a:t>NULL</a:t>
                </a:r>
              </a:p>
            </p:txBody>
          </p:sp>
        </p:grp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6F30CCC8-C197-460F-9259-34010D74BEE9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Join Overview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19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Problem: Addresses with Towns</a:t>
            </a:r>
          </a:p>
        </p:txBody>
      </p:sp>
      <p:sp>
        <p:nvSpPr>
          <p:cNvPr id="540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Select first 50 employees.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exact format of data is shown below.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Order them by </a:t>
            </a:r>
            <a:r>
              <a:rPr lang="en-US" noProof="1">
                <a:solidFill>
                  <a:schemeClr val="tx2">
                    <a:lumMod val="75000"/>
                  </a:schemeClr>
                </a:solidFill>
              </a:rPr>
              <a:t>FirstName</a:t>
            </a:r>
            <a:r>
              <a:rPr lang="en-US" noProof="1"/>
              <a:t>,</a:t>
            </a:r>
            <a:r>
              <a:rPr lang="en-US" noProof="1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noProof="1"/>
              <a:t>then by </a:t>
            </a:r>
            <a:r>
              <a:rPr lang="en-US" noProof="1">
                <a:solidFill>
                  <a:schemeClr val="tx2">
                    <a:lumMod val="75000"/>
                  </a:schemeClr>
                </a:solidFill>
              </a:rPr>
              <a:t>LastName</a:t>
            </a:r>
            <a:r>
              <a:rPr lang="bg-BG" noProof="1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bg-BG" noProof="1"/>
              <a:t>(</a:t>
            </a:r>
            <a:r>
              <a:rPr lang="en-US" noProof="1"/>
              <a:t>ascending</a:t>
            </a:r>
            <a:r>
              <a:rPr lang="bg-BG" noProof="1"/>
              <a:t>)</a:t>
            </a:r>
            <a:r>
              <a:rPr lang="en-US" dirty="0"/>
              <a:t>.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Hint: Use three-way join.</a:t>
            </a:r>
          </a:p>
          <a:p>
            <a:pPr lvl="1">
              <a:lnSpc>
                <a:spcPct val="100000"/>
              </a:lnSpc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012" y="4358072"/>
            <a:ext cx="7411390" cy="148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1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Solution: Addresses with Towns</a:t>
            </a:r>
          </a:p>
        </p:txBody>
      </p:sp>
      <p:sp>
        <p:nvSpPr>
          <p:cNvPr id="540676" name="Rectangle 4"/>
          <p:cNvSpPr>
            <a:spLocks noChangeArrowheads="1"/>
          </p:cNvSpPr>
          <p:nvPr/>
        </p:nvSpPr>
        <p:spPr bwMode="auto">
          <a:xfrm>
            <a:off x="1220788" y="2593013"/>
            <a:ext cx="9674224" cy="249299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SELECT TOP 50 e.FirstName, e.LastName,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 t.Name as Town, a.AddressText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FROM Employees 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JOIN</a:t>
            </a:r>
            <a:r>
              <a:rPr lang="en-US" sz="2600" b="1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Addresses a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ON</a:t>
            </a:r>
            <a:r>
              <a:rPr lang="en-US" sz="2600" b="1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e.AddressID = a.AddressID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JOIN</a:t>
            </a:r>
            <a:r>
              <a:rPr lang="en-US" sz="2600" b="1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Towns t</a:t>
            </a:r>
            <a:r>
              <a:rPr lang="en-US" sz="2600" b="1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ON</a:t>
            </a:r>
            <a:r>
              <a:rPr lang="en-US" sz="2600" b="1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a.TownID = t.TownID</a:t>
            </a:r>
            <a:endParaRPr lang="bg-BG" sz="2600" b="1" noProof="1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ORDER BY e.FirstName ASC, e.LastName ASC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8380412" y="3069610"/>
            <a:ext cx="2971800" cy="558485"/>
          </a:xfrm>
          <a:prstGeom prst="wedgeRoundRectCallout">
            <a:avLst>
              <a:gd name="adj1" fmla="val -45949"/>
              <a:gd name="adj2" fmla="val 85694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Table Employees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8809023" y="5133053"/>
            <a:ext cx="2971800" cy="558485"/>
          </a:xfrm>
          <a:prstGeom prst="wedgeRoundRectCallout">
            <a:avLst>
              <a:gd name="adj1" fmla="val -73374"/>
              <a:gd name="adj2" fmla="val -156339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Table Towns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5534024" y="1708235"/>
            <a:ext cx="3276600" cy="558485"/>
          </a:xfrm>
          <a:prstGeom prst="wedgeRoundRectCallout">
            <a:avLst>
              <a:gd name="adj1" fmla="val -43720"/>
              <a:gd name="adj2" fmla="val 116542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Cross Table Selection</a:t>
            </a:r>
          </a:p>
        </p:txBody>
      </p:sp>
    </p:spTree>
    <p:extLst>
      <p:ext uri="{BB962C8B-B14F-4D97-AF65-F5344CB8AC3E}">
        <p14:creationId xmlns:p14="http://schemas.microsoft.com/office/powerpoint/2010/main" val="1566841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Sales Employees</a:t>
            </a:r>
          </a:p>
        </p:txBody>
      </p:sp>
      <p:sp>
        <p:nvSpPr>
          <p:cNvPr id="544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Find all employees that are in the "Sales" department.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Follow the specified format: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Order them by </a:t>
            </a:r>
            <a:r>
              <a:rPr lang="en-US" noProof="1"/>
              <a:t>EmployeeID</a:t>
            </a:r>
            <a:r>
              <a:rPr lang="en-US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4" name="Картина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2" y="3124200"/>
            <a:ext cx="7315200" cy="200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288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Sales Employees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44772" name="Rectangle 4"/>
          <p:cNvSpPr>
            <a:spLocks noChangeArrowheads="1"/>
          </p:cNvSpPr>
          <p:nvPr/>
        </p:nvSpPr>
        <p:spPr bwMode="auto">
          <a:xfrm>
            <a:off x="1279744" y="2383810"/>
            <a:ext cx="9615267" cy="289310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SELECT e.EmployeeID, e.FirstName, e.LastName,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 d.Name AS DepartmentName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FROM Employees e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INNER JOIN</a:t>
            </a:r>
            <a:r>
              <a:rPr lang="en-US" sz="2600" b="1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Departments d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ON</a:t>
            </a:r>
            <a:r>
              <a:rPr lang="en-US" sz="2600" b="1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e.DepartmentID = d.DepartmentID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WHERE</a:t>
            </a:r>
            <a:r>
              <a:rPr lang="en-US" sz="2600" b="1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d.Name = 'Sales'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ORDER BY e.EmployeeID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5865812" y="1488223"/>
            <a:ext cx="3276600" cy="558485"/>
          </a:xfrm>
          <a:prstGeom prst="wedgeRoundRectCallout">
            <a:avLst>
              <a:gd name="adj1" fmla="val -46956"/>
              <a:gd name="adj2" fmla="val 118915"/>
              <a:gd name="adj3" fmla="val 16667"/>
            </a:avLst>
          </a:prstGeom>
          <a:solidFill>
            <a:schemeClr val="accent2">
              <a:lumMod val="75000"/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Cross Table Selection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8128112" y="3313133"/>
            <a:ext cx="3276600" cy="558485"/>
          </a:xfrm>
          <a:prstGeom prst="wedgeRoundRectCallout">
            <a:avLst>
              <a:gd name="adj1" fmla="val -42507"/>
              <a:gd name="adj2" fmla="val 85695"/>
              <a:gd name="adj3" fmla="val 16667"/>
            </a:avLst>
          </a:prstGeom>
          <a:solidFill>
            <a:schemeClr val="accent2">
              <a:lumMod val="75000"/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Table Departments</a:t>
            </a:r>
          </a:p>
        </p:txBody>
      </p:sp>
      <p:sp>
        <p:nvSpPr>
          <p:cNvPr id="14" name="AutoShape 7"/>
          <p:cNvSpPr>
            <a:spLocks noChangeArrowheads="1"/>
          </p:cNvSpPr>
          <p:nvPr/>
        </p:nvSpPr>
        <p:spPr bwMode="auto">
          <a:xfrm>
            <a:off x="5872691" y="5055527"/>
            <a:ext cx="2819400" cy="558485"/>
          </a:xfrm>
          <a:prstGeom prst="wedgeRoundRectCallout">
            <a:avLst>
              <a:gd name="adj1" fmla="val -61445"/>
              <a:gd name="adj2" fmla="val -117186"/>
              <a:gd name="adj3" fmla="val 16667"/>
            </a:avLst>
          </a:prstGeom>
          <a:solidFill>
            <a:schemeClr val="accent2">
              <a:lumMod val="75000"/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WHERE Precicate</a:t>
            </a:r>
          </a:p>
        </p:txBody>
      </p:sp>
    </p:spTree>
    <p:extLst>
      <p:ext uri="{BB962C8B-B14F-4D97-AF65-F5344CB8AC3E}">
        <p14:creationId xmlns:p14="http://schemas.microsoft.com/office/powerpoint/2010/main" val="3577375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Employees Hired After</a:t>
            </a:r>
          </a:p>
        </p:txBody>
      </p:sp>
      <p:sp>
        <p:nvSpPr>
          <p:cNvPr id="11868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Show all employees that: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Are hired after 1/1/1999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Are either in "Sales" or "Finance" department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Sorted by </a:t>
            </a:r>
            <a:r>
              <a:rPr lang="en-US" noProof="1"/>
              <a:t>HireDate</a:t>
            </a:r>
            <a:r>
              <a:rPr lang="en-US" dirty="0"/>
              <a:t> (ascending).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8" name="Picture 2" descr="document, file, preview, search, zoom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4831" y="3566160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Картина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412" y="3549227"/>
            <a:ext cx="7529023" cy="162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13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Employees Hired After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1186820" name="Rectangle 4"/>
          <p:cNvSpPr>
            <a:spLocks noChangeArrowheads="1"/>
          </p:cNvSpPr>
          <p:nvPr/>
        </p:nvSpPr>
        <p:spPr bwMode="auto">
          <a:xfrm>
            <a:off x="1293812" y="2047660"/>
            <a:ext cx="9601198" cy="329320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SELECT e.FirstName, e.LastName, e.HireDate,</a:t>
            </a:r>
            <a:b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</a:b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d.Name as DeptName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FROM Employees 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INNER JOIN Departments d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ON (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e.DepartmentId = d.DepartmentId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AND e.HireDate &gt; '1/1/1999'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AND d.Name IN ('Sales', 'Finance')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ORDER BY e.HireDate ASC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3960812" y="1219200"/>
            <a:ext cx="3276600" cy="558485"/>
          </a:xfrm>
          <a:prstGeom prst="wedgeRoundRectCallout">
            <a:avLst>
              <a:gd name="adj1" fmla="val -43720"/>
              <a:gd name="adj2" fmla="val 116542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Cross Table Selection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6475412" y="5277777"/>
            <a:ext cx="3657601" cy="558485"/>
          </a:xfrm>
          <a:prstGeom prst="wedgeRoundRectCallout">
            <a:avLst>
              <a:gd name="adj1" fmla="val -50596"/>
              <a:gd name="adj2" fmla="val -116001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Complex Join Condition</a:t>
            </a:r>
          </a:p>
        </p:txBody>
      </p:sp>
    </p:spTree>
    <p:extLst>
      <p:ext uri="{BB962C8B-B14F-4D97-AF65-F5344CB8AC3E}">
        <p14:creationId xmlns:p14="http://schemas.microsoft.com/office/powerpoint/2010/main" val="18331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Employee Summary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38" y="3657600"/>
            <a:ext cx="6609551" cy="1757363"/>
          </a:xfrm>
          <a:prstGeom prst="rect">
            <a:avLst/>
          </a:prstGeom>
        </p:spPr>
      </p:pic>
      <p:pic>
        <p:nvPicPr>
          <p:cNvPr id="7" name="Picture 2" descr="document, file, preview, search, zoom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612" y="1905000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application, desktop, development, programming ic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970" y="4358072"/>
            <a:ext cx="1744842" cy="1744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0FA02A-7E8A-48F7-BD8D-BE271F9C8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1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Employee Summary</a:t>
            </a:r>
          </a:p>
        </p:txBody>
      </p:sp>
      <p:sp>
        <p:nvSpPr>
          <p:cNvPr id="540676" name="Rectangle 4"/>
          <p:cNvSpPr>
            <a:spLocks noChangeArrowheads="1"/>
          </p:cNvSpPr>
          <p:nvPr/>
        </p:nvSpPr>
        <p:spPr bwMode="auto">
          <a:xfrm>
            <a:off x="989012" y="1488281"/>
            <a:ext cx="9674224" cy="409342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6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 50</a:t>
            </a:r>
            <a:r>
              <a:rPr lang="en-US" sz="26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r>
              <a:rPr lang="en-US" sz="26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e.EmployeeID, </a:t>
            </a:r>
          </a:p>
          <a:p>
            <a:r>
              <a:rPr lang="en-US" sz="26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e.FirstName + ' ' + e.LastName AS EmployeeName, </a:t>
            </a:r>
          </a:p>
          <a:p>
            <a:r>
              <a:rPr lang="en-US" sz="26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m.FirstName + ' ' + m. LastName AS ManagerName,</a:t>
            </a:r>
          </a:p>
          <a:p>
            <a:r>
              <a:rPr lang="en-US" sz="26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d.Name AS DepartmentName</a:t>
            </a:r>
          </a:p>
          <a:p>
            <a:r>
              <a:rPr lang="en-US" sz="26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Employees AS e</a:t>
            </a:r>
          </a:p>
          <a:p>
            <a:r>
              <a:rPr lang="en-US" sz="26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LEFT JOIN </a:t>
            </a:r>
            <a:r>
              <a:rPr lang="en-US" sz="26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Employees AS m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</a:t>
            </a:r>
            <a:r>
              <a:rPr lang="en-US" sz="26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m.EmployeeID = e.ManagerID</a:t>
            </a:r>
          </a:p>
          <a:p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LEFT JOIN </a:t>
            </a:r>
            <a:r>
              <a:rPr lang="en-US" sz="26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Departments AS d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</a:t>
            </a:r>
            <a:r>
              <a:rPr lang="en-US" sz="26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d.DepartmentID =   </a:t>
            </a:r>
            <a:br>
              <a:rPr lang="en-US" sz="26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6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e.DepartmentID</a:t>
            </a:r>
          </a:p>
          <a:p>
            <a:r>
              <a:rPr lang="en-US" sz="26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ORDER BY </a:t>
            </a:r>
            <a:r>
              <a:rPr lang="en-US" sz="26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e.EmployeeID ASC</a:t>
            </a:r>
            <a:endParaRPr lang="en-US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9523412" y="3293852"/>
            <a:ext cx="1828800" cy="482285"/>
          </a:xfrm>
          <a:prstGeom prst="wedgeRoundRectCallout">
            <a:avLst>
              <a:gd name="adj1" fmla="val -45949"/>
              <a:gd name="adj2" fmla="val 85694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Self-join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2817812" y="5731294"/>
            <a:ext cx="1335088" cy="436441"/>
          </a:xfrm>
          <a:prstGeom prst="wedgeRoundRectCallout">
            <a:avLst>
              <a:gd name="adj1" fmla="val -47733"/>
              <a:gd name="adj2" fmla="val -101763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Sort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5408612" y="1587562"/>
            <a:ext cx="3276600" cy="479696"/>
          </a:xfrm>
          <a:prstGeom prst="wedgeRoundRectCallout">
            <a:avLst>
              <a:gd name="adj1" fmla="val -43720"/>
              <a:gd name="adj2" fmla="val 102729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Cross Table Selection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7313612" y="5145874"/>
            <a:ext cx="3124200" cy="484667"/>
          </a:xfrm>
          <a:prstGeom prst="wedgeRoundRectCallout">
            <a:avLst>
              <a:gd name="adj1" fmla="val -62002"/>
              <a:gd name="adj2" fmla="val -137357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Table Departments</a:t>
            </a:r>
          </a:p>
        </p:txBody>
      </p:sp>
    </p:spTree>
    <p:extLst>
      <p:ext uri="{BB962C8B-B14F-4D97-AF65-F5344CB8AC3E}">
        <p14:creationId xmlns:p14="http://schemas.microsoft.com/office/powerpoint/2010/main" val="2610048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0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0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40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40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0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40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0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40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40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red, sitting, umbrella, holding&#10;&#10;Description automatically generated">
            <a:extLst>
              <a:ext uri="{FF2B5EF4-FFF2-40B4-BE49-F238E27FC236}">
                <a16:creationId xmlns:a16="http://schemas.microsoft.com/office/drawing/2014/main" id="{CF7CC003-3C7F-4717-B6A1-63C8E3DC9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19479"/>
            <a:ext cx="12188825" cy="7096957"/>
          </a:xfrm>
          <a:prstGeom prst="rect">
            <a:avLst/>
          </a:prstGeom>
        </p:spPr>
      </p:pic>
      <p:sp>
        <p:nvSpPr>
          <p:cNvPr id="519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39825" y="2425812"/>
            <a:ext cx="8938472" cy="820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SUBQUERIES</a:t>
            </a:r>
            <a:endParaRPr lang="bg-BG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648497" y="3255916"/>
            <a:ext cx="10721128" cy="71903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Query Manipulation on Multiple Levels</a:t>
            </a:r>
          </a:p>
        </p:txBody>
      </p:sp>
    </p:spTree>
    <p:extLst>
      <p:ext uri="{BB962C8B-B14F-4D97-AF65-F5344CB8AC3E}">
        <p14:creationId xmlns:p14="http://schemas.microsoft.com/office/powerpoint/2010/main" val="14070444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476898"/>
              </p:ext>
            </p:extLst>
          </p:nvPr>
        </p:nvGraphicFramePr>
        <p:xfrm>
          <a:off x="912812" y="1752600"/>
          <a:ext cx="4191000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04814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486186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EmployeeID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59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19,000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71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43,300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1565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bg-BG" dirty="0"/>
                        <a:t>...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...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75322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64574" y="1109990"/>
            <a:ext cx="18821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Employees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305305"/>
              </p:ext>
            </p:extLst>
          </p:nvPr>
        </p:nvGraphicFramePr>
        <p:xfrm>
          <a:off x="7008812" y="4572000"/>
          <a:ext cx="4191000" cy="914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DepartmentID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Name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Finance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836610" y="4572000"/>
            <a:ext cx="43434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WHERE</a:t>
            </a:r>
            <a:r>
              <a:rPr lang="en-GB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2800" noProof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DepartmentID</a:t>
            </a:r>
            <a:r>
              <a:rPr lang="en-GB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GB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endParaRPr lang="bg-BG" sz="2800" dirty="0"/>
          </a:p>
        </p:txBody>
      </p:sp>
      <p:sp>
        <p:nvSpPr>
          <p:cNvPr id="10" name="Up Arrow 9"/>
          <p:cNvSpPr/>
          <p:nvPr/>
        </p:nvSpPr>
        <p:spPr>
          <a:xfrm rot="10800000">
            <a:off x="2844047" y="3903441"/>
            <a:ext cx="328527" cy="439901"/>
          </a:xfrm>
          <a:prstGeom prst="upArrow">
            <a:avLst>
              <a:gd name="adj1" fmla="val 35351"/>
              <a:gd name="adj2" fmla="val 5000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2" name="Up Arrow 9"/>
          <p:cNvSpPr/>
          <p:nvPr/>
        </p:nvSpPr>
        <p:spPr>
          <a:xfrm rot="5400000">
            <a:off x="5930147" y="4809249"/>
            <a:ext cx="328527" cy="439901"/>
          </a:xfrm>
          <a:prstGeom prst="upArrow">
            <a:avLst>
              <a:gd name="adj1" fmla="val 35351"/>
              <a:gd name="adj2" fmla="val 50000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5408612" y="1360901"/>
            <a:ext cx="2362987" cy="644481"/>
          </a:xfrm>
          <a:prstGeom prst="wedgeRoundRectCallout">
            <a:avLst>
              <a:gd name="adj1" fmla="val -54956"/>
              <a:gd name="adj2" fmla="val 104132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noProof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Query</a:t>
            </a:r>
          </a:p>
        </p:txBody>
      </p:sp>
      <p:sp>
        <p:nvSpPr>
          <p:cNvPr id="14" name="AutoShape 7"/>
          <p:cNvSpPr>
            <a:spLocks noChangeArrowheads="1"/>
          </p:cNvSpPr>
          <p:nvPr/>
        </p:nvSpPr>
        <p:spPr bwMode="auto">
          <a:xfrm>
            <a:off x="7403425" y="3444229"/>
            <a:ext cx="2362987" cy="644481"/>
          </a:xfrm>
          <a:prstGeom prst="wedgeRoundRectCallout">
            <a:avLst>
              <a:gd name="adj1" fmla="val -32025"/>
              <a:gd name="adj2" fmla="val 112014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noProof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Subquery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BED040-25B8-41B3-94A7-4D71FB2706C9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Subqueries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41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1226457" y="1936518"/>
            <a:ext cx="9674224" cy="353943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SELECT FROM Employees AS 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WHERE e.DepartmentID IN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(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3200" b="1" noProof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SELECT d.DepartmentID</a:t>
            </a:r>
            <a:br>
              <a:rPr lang="en-US" sz="3200" b="1" noProof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3200" b="1" noProof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    FROM Deparments AS d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   WHERE d.Name = 'Finance'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 )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7694612" y="3660513"/>
            <a:ext cx="2932706" cy="558487"/>
          </a:xfrm>
          <a:prstGeom prst="wedgeRoundRectCallout">
            <a:avLst>
              <a:gd name="adj1" fmla="val -71507"/>
              <a:gd name="adj2" fmla="val 52165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Table Depatments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2436812" y="5676205"/>
            <a:ext cx="1714943" cy="585140"/>
          </a:xfrm>
          <a:prstGeom prst="wedgeRoundRectCallout">
            <a:avLst>
              <a:gd name="adj1" fmla="val -65583"/>
              <a:gd name="adj2" fmla="val -125851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Subquery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4577669" y="1219200"/>
            <a:ext cx="2971800" cy="558485"/>
          </a:xfrm>
          <a:prstGeom prst="wedgeRoundRectCallout">
            <a:avLst>
              <a:gd name="adj1" fmla="val -45949"/>
              <a:gd name="adj2" fmla="val 85694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Table Employees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0875BF-0CAE-4D50-BDD3-3ACC36016DB6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Subqueries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24">
            <a:extLst>
              <a:ext uri="{FF2B5EF4-FFF2-40B4-BE49-F238E27FC236}">
                <a16:creationId xmlns:a16="http://schemas.microsoft.com/office/drawing/2014/main" id="{9FAAD0E5-BBF1-45BA-A7C6-58F63BEA7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35" y="1253330"/>
            <a:ext cx="1051286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4026943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035" name="Rectangle 3"/>
          <p:cNvSpPr>
            <a:spLocks noGrp="1" noChangeArrowheads="1"/>
          </p:cNvSpPr>
          <p:nvPr>
            <p:ph idx="1"/>
          </p:nvPr>
        </p:nvSpPr>
        <p:spPr>
          <a:xfrm>
            <a:off x="837981" y="1371600"/>
            <a:ext cx="10512862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Display lowest average salary of all departments.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Calculate average salary for each department.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Then show the value of smallest one.</a:t>
            </a:r>
          </a:p>
        </p:txBody>
      </p:sp>
      <p:pic>
        <p:nvPicPr>
          <p:cNvPr id="4" name="Картина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812" y="3657600"/>
            <a:ext cx="3902445" cy="11190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5FAFA11-C7B3-4512-BBB1-9B7BE343B84A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Problem: Min Average Salary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13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226458" y="1371600"/>
            <a:ext cx="9897154" cy="465009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SELECT </a:t>
            </a:r>
            <a:b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MIN(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a.AverageSalary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) AS MinAverageSalary</a:t>
            </a:r>
          </a:p>
          <a:p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FROM </a:t>
            </a:r>
          </a:p>
          <a:p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SELECT e.DepartmentID, </a:t>
            </a:r>
          </a:p>
          <a:p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    AVG(e.Salary) AS AverageSalary</a:t>
            </a:r>
          </a:p>
          <a:p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  FROM Employees AS e</a:t>
            </a:r>
          </a:p>
          <a:p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	   GROUP BY e.DepartmentID</a:t>
            </a:r>
          </a:p>
          <a:p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AS 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a</a:t>
            </a:r>
            <a:endParaRPr lang="en-US" sz="3200" noProof="1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188815" y="3414012"/>
            <a:ext cx="1714943" cy="565268"/>
          </a:xfrm>
          <a:prstGeom prst="wedgeRoundRectCallout">
            <a:avLst>
              <a:gd name="adj1" fmla="val 49054"/>
              <a:gd name="adj2" fmla="val 108730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Subquery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8594612" y="4419600"/>
            <a:ext cx="2971800" cy="558485"/>
          </a:xfrm>
          <a:prstGeom prst="wedgeRoundRectCallout">
            <a:avLst>
              <a:gd name="adj1" fmla="val -111590"/>
              <a:gd name="adj2" fmla="val 798"/>
              <a:gd name="adj3" fmla="val 16667"/>
            </a:avLst>
          </a:prstGeom>
          <a:solidFill>
            <a:schemeClr val="accent2"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Table Employees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2B5A48-B90F-4FD6-9475-43DE602BB5BC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Solution: Min Average Salary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101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red, sitting, umbrella, holding&#10;&#10;Description automatically generated">
            <a:extLst>
              <a:ext uri="{FF2B5EF4-FFF2-40B4-BE49-F238E27FC236}">
                <a16:creationId xmlns:a16="http://schemas.microsoft.com/office/drawing/2014/main" id="{CF7CC003-3C7F-4717-B6A1-63C8E3DC9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19479"/>
            <a:ext cx="12188825" cy="7096957"/>
          </a:xfrm>
          <a:prstGeom prst="rect">
            <a:avLst/>
          </a:prstGeom>
        </p:spPr>
      </p:pic>
      <p:sp>
        <p:nvSpPr>
          <p:cNvPr id="519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7612" y="2435316"/>
            <a:ext cx="10421987" cy="820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COMMON TABLE EXPRESSIONS</a:t>
            </a:r>
            <a:endParaRPr lang="bg-BG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648497" y="3255916"/>
            <a:ext cx="10721128" cy="71903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Reusable Subqueries</a:t>
            </a:r>
          </a:p>
        </p:txBody>
      </p:sp>
    </p:spTree>
    <p:extLst>
      <p:ext uri="{BB962C8B-B14F-4D97-AF65-F5344CB8AC3E}">
        <p14:creationId xmlns:p14="http://schemas.microsoft.com/office/powerpoint/2010/main" val="37462654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9" name="Rectangle 3"/>
          <p:cNvSpPr>
            <a:spLocks noGrp="1" noChangeArrowheads="1"/>
          </p:cNvSpPr>
          <p:nvPr>
            <p:ph idx="1"/>
          </p:nvPr>
        </p:nvSpPr>
        <p:spPr>
          <a:xfrm>
            <a:off x="837981" y="1253331"/>
            <a:ext cx="10512862" cy="4351338"/>
          </a:xfrm>
        </p:spPr>
        <p:txBody>
          <a:bodyPr/>
          <a:lstStyle/>
          <a:p>
            <a:pPr>
              <a:spcBef>
                <a:spcPct val="250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Common Table Expressions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CTE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) can be considered as "named subqueries".</a:t>
            </a:r>
          </a:p>
          <a:p>
            <a:pPr>
              <a:spcBef>
                <a:spcPct val="250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They could be used to improve code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readability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and code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reuse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bg-B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ct val="250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Usually they are positioned in the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beginning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of the query.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293812" y="3485707"/>
            <a:ext cx="9601198" cy="20928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WITH</a:t>
            </a:r>
            <a:r>
              <a:rPr lang="en-US" sz="2600" b="1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CTE_Name (ColumnA, ColumnB…)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AS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(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-- Insert subquery here.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90A440-0AEC-4FFC-B351-18D2B0127A74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Common Table Expressions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42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0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0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39" grpId="0" uiExpand="1" build="p"/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60562" y="1253330"/>
            <a:ext cx="9601198" cy="489364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WITH</a:t>
            </a:r>
            <a:r>
              <a:rPr lang="en-US" sz="2600" b="1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Employees_CTE </a:t>
            </a:r>
            <a:b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 (FirstName, LastName, DepartmentName)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AS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(</a:t>
            </a:r>
            <a:endParaRPr lang="en-US" sz="2600" b="1" noProof="1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 SELECT e.FirstName, e.LastName, d.Name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 FROM Employees AS e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LEFT JOIN </a:t>
            </a: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Departments AS d ON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   d.DepartmentID = e.DepartmentID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600" b="1" noProof="1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SELECT FirstName, LastName, DepartmentName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 FROM Employees_CTE</a:t>
            </a:r>
          </a:p>
        </p:txBody>
      </p:sp>
      <p:sp>
        <p:nvSpPr>
          <p:cNvPr id="6" name="Content Placeholder 24">
            <a:extLst>
              <a:ext uri="{FF2B5EF4-FFF2-40B4-BE49-F238E27FC236}">
                <a16:creationId xmlns:a16="http://schemas.microsoft.com/office/drawing/2014/main" id="{7D93758A-85F8-442C-B195-B1F4EF46F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35" y="1253330"/>
            <a:ext cx="1051286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Syntax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22AC40-6B61-485C-9A10-5C841F6BCA2D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Common Table Expressions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47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9" name="Rectangle 3"/>
          <p:cNvSpPr>
            <a:spLocks noGrp="1" noChangeArrowheads="1"/>
          </p:cNvSpPr>
          <p:nvPr>
            <p:ph idx="1"/>
          </p:nvPr>
        </p:nvSpPr>
        <p:spPr>
          <a:xfrm>
            <a:off x="837981" y="1447800"/>
            <a:ext cx="10512862" cy="4351338"/>
          </a:xfrm>
        </p:spPr>
        <p:txBody>
          <a:bodyPr/>
          <a:lstStyle/>
          <a:p>
            <a:pPr>
              <a:spcBef>
                <a:spcPct val="25000"/>
              </a:spcBef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Indices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speed up searching of values in a certain column or group of columns.</a:t>
            </a:r>
          </a:p>
          <a:p>
            <a:pPr lvl="1">
              <a:spcBef>
                <a:spcPct val="250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Usually implemented as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B-trees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bg-B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ct val="250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Indices can be built-in the table (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clustered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) or stored externally (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non-clustered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  <a:endParaRPr lang="bg-B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ct val="250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Adding and deleting records in indexed tables is slower!</a:t>
            </a:r>
          </a:p>
          <a:p>
            <a:pPr lvl="1">
              <a:spcBef>
                <a:spcPct val="250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Indices should be used for big tables only (e.g. 50 000 rows).</a:t>
            </a:r>
            <a:endParaRPr lang="bg-BG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7FD214-B40C-4D80-BF22-99E2917F73DB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Indices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48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0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0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0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0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39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75397" y="1206715"/>
            <a:ext cx="10438030" cy="4444570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Clustered index is actually the data itself.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Very useful for fast execution of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WHERE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 BY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and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 BY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clauses.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Maximum 1 clustered index per table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If a table has no clustered index, 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its data rows are stored in an 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unordered structure (heap).</a:t>
            </a:r>
          </a:p>
        </p:txBody>
      </p:sp>
      <p:sp>
        <p:nvSpPr>
          <p:cNvPr id="6" name="Rectangle 9"/>
          <p:cNvSpPr/>
          <p:nvPr/>
        </p:nvSpPr>
        <p:spPr>
          <a:xfrm>
            <a:off x="8417827" y="2886290"/>
            <a:ext cx="1066800" cy="533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Keys</a:t>
            </a:r>
          </a:p>
        </p:txBody>
      </p:sp>
      <p:grpSp>
        <p:nvGrpSpPr>
          <p:cNvPr id="7" name="Group 39"/>
          <p:cNvGrpSpPr/>
          <p:nvPr/>
        </p:nvGrpSpPr>
        <p:grpSpPr>
          <a:xfrm>
            <a:off x="5933705" y="4814916"/>
            <a:ext cx="5194074" cy="836369"/>
            <a:chOff x="5561012" y="5334000"/>
            <a:chExt cx="5194074" cy="836369"/>
          </a:xfrm>
        </p:grpSpPr>
        <p:sp>
          <p:nvSpPr>
            <p:cNvPr id="8" name="Rectangle: Rounded Corners 13"/>
            <p:cNvSpPr/>
            <p:nvPr/>
          </p:nvSpPr>
          <p:spPr>
            <a:xfrm>
              <a:off x="5561012" y="5334000"/>
              <a:ext cx="5194074" cy="836369"/>
            </a:xfrm>
            <a:prstGeom prst="roundRect">
              <a:avLst>
                <a:gd name="adj" fmla="val 5319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Data</a:t>
              </a:r>
            </a:p>
          </p:txBody>
        </p:sp>
        <p:grpSp>
          <p:nvGrpSpPr>
            <p:cNvPr id="9" name="Group 14"/>
            <p:cNvGrpSpPr/>
            <p:nvPr/>
          </p:nvGrpSpPr>
          <p:grpSpPr>
            <a:xfrm>
              <a:off x="6551136" y="5499904"/>
              <a:ext cx="609600" cy="533400"/>
              <a:chOff x="3998912" y="2209800"/>
              <a:chExt cx="609600" cy="533400"/>
            </a:xfrm>
          </p:grpSpPr>
          <p:sp>
            <p:nvSpPr>
              <p:cNvPr id="28" name="Rectangle: Folded Corner 15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chemeClr val="accent1">
                  <a:alpha val="25098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29" name="TextBox 16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10" name="Group 17"/>
            <p:cNvGrpSpPr/>
            <p:nvPr/>
          </p:nvGrpSpPr>
          <p:grpSpPr>
            <a:xfrm>
              <a:off x="7141097" y="5499904"/>
              <a:ext cx="609600" cy="533400"/>
              <a:chOff x="3998912" y="2209800"/>
              <a:chExt cx="609600" cy="533400"/>
            </a:xfrm>
          </p:grpSpPr>
          <p:sp>
            <p:nvSpPr>
              <p:cNvPr id="26" name="Rectangle: Folded Corner 18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chemeClr val="accent1">
                  <a:alpha val="25098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27" name="TextBox 19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11" name="Group 20"/>
            <p:cNvGrpSpPr/>
            <p:nvPr/>
          </p:nvGrpSpPr>
          <p:grpSpPr>
            <a:xfrm>
              <a:off x="7731058" y="5499904"/>
              <a:ext cx="609600" cy="533400"/>
              <a:chOff x="3998912" y="2209800"/>
              <a:chExt cx="609600" cy="533400"/>
            </a:xfrm>
          </p:grpSpPr>
          <p:sp>
            <p:nvSpPr>
              <p:cNvPr id="24" name="Rectangle: Folded Corner 21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chemeClr val="accent1">
                  <a:alpha val="25098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25" name="TextBox 22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12" name="Group 23"/>
            <p:cNvGrpSpPr/>
            <p:nvPr/>
          </p:nvGrpSpPr>
          <p:grpSpPr>
            <a:xfrm>
              <a:off x="8321019" y="5499904"/>
              <a:ext cx="609600" cy="533400"/>
              <a:chOff x="3998912" y="2209800"/>
              <a:chExt cx="609600" cy="533400"/>
            </a:xfrm>
          </p:grpSpPr>
          <p:sp>
            <p:nvSpPr>
              <p:cNvPr id="22" name="Rectangle: Folded Corner 24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chemeClr val="accent1">
                  <a:alpha val="25098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23" name="TextBox 25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13" name="Group 26"/>
            <p:cNvGrpSpPr/>
            <p:nvPr/>
          </p:nvGrpSpPr>
          <p:grpSpPr>
            <a:xfrm>
              <a:off x="8910980" y="5499904"/>
              <a:ext cx="609600" cy="533400"/>
              <a:chOff x="3998912" y="2209800"/>
              <a:chExt cx="609600" cy="533400"/>
            </a:xfrm>
          </p:grpSpPr>
          <p:sp>
            <p:nvSpPr>
              <p:cNvPr id="20" name="Rectangle: Folded Corner 27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chemeClr val="accent1">
                  <a:alpha val="25098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21" name="TextBox 28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14" name="Group 33"/>
            <p:cNvGrpSpPr/>
            <p:nvPr/>
          </p:nvGrpSpPr>
          <p:grpSpPr>
            <a:xfrm>
              <a:off x="9500941" y="5499904"/>
              <a:ext cx="609600" cy="533400"/>
              <a:chOff x="3998912" y="2209800"/>
              <a:chExt cx="609600" cy="533400"/>
            </a:xfrm>
          </p:grpSpPr>
          <p:sp>
            <p:nvSpPr>
              <p:cNvPr id="18" name="Rectangle: Folded Corner 34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chemeClr val="accent1">
                  <a:alpha val="25098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19" name="TextBox 35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15" name="Group 36"/>
            <p:cNvGrpSpPr/>
            <p:nvPr/>
          </p:nvGrpSpPr>
          <p:grpSpPr>
            <a:xfrm>
              <a:off x="10090901" y="5499904"/>
              <a:ext cx="609600" cy="533400"/>
              <a:chOff x="3998912" y="2209800"/>
              <a:chExt cx="609600" cy="533400"/>
            </a:xfrm>
          </p:grpSpPr>
          <p:sp>
            <p:nvSpPr>
              <p:cNvPr id="16" name="Rectangle: Folded Corner 37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chemeClr val="accent1">
                  <a:alpha val="25098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17" name="TextBox 38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</p:grpSp>
      <p:sp>
        <p:nvSpPr>
          <p:cNvPr id="30" name="Rectangle 40"/>
          <p:cNvSpPr/>
          <p:nvPr/>
        </p:nvSpPr>
        <p:spPr>
          <a:xfrm>
            <a:off x="8313981" y="3777730"/>
            <a:ext cx="1274492" cy="533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100-199</a:t>
            </a:r>
            <a:endParaRPr lang="en-US" sz="2000" dirty="0"/>
          </a:p>
        </p:txBody>
      </p:sp>
      <p:sp>
        <p:nvSpPr>
          <p:cNvPr id="31" name="Rectangle 41"/>
          <p:cNvSpPr/>
          <p:nvPr/>
        </p:nvSpPr>
        <p:spPr>
          <a:xfrm>
            <a:off x="6836150" y="3777730"/>
            <a:ext cx="1395256" cy="533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0-99</a:t>
            </a:r>
          </a:p>
        </p:txBody>
      </p:sp>
      <p:sp>
        <p:nvSpPr>
          <p:cNvPr id="32" name="Rectangle 42"/>
          <p:cNvSpPr/>
          <p:nvPr/>
        </p:nvSpPr>
        <p:spPr>
          <a:xfrm>
            <a:off x="9671048" y="3777730"/>
            <a:ext cx="1402146" cy="533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200-299</a:t>
            </a:r>
            <a:endParaRPr lang="en-US" sz="2800" dirty="0"/>
          </a:p>
        </p:txBody>
      </p:sp>
      <p:cxnSp>
        <p:nvCxnSpPr>
          <p:cNvPr id="33" name="Connector: Elbow 44"/>
          <p:cNvCxnSpPr>
            <a:cxnSpLocks/>
            <a:stCxn id="6" idx="1"/>
            <a:endCxn id="31" idx="0"/>
          </p:cNvCxnSpPr>
          <p:nvPr/>
        </p:nvCxnSpPr>
        <p:spPr>
          <a:xfrm rot="10800000" flipV="1">
            <a:off x="7533779" y="3152990"/>
            <a:ext cx="884049" cy="624740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46"/>
          <p:cNvCxnSpPr>
            <a:cxnSpLocks/>
            <a:stCxn id="6" idx="3"/>
            <a:endCxn id="32" idx="0"/>
          </p:cNvCxnSpPr>
          <p:nvPr/>
        </p:nvCxnSpPr>
        <p:spPr>
          <a:xfrm>
            <a:off x="9484627" y="3152990"/>
            <a:ext cx="887494" cy="624740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48"/>
          <p:cNvCxnSpPr>
            <a:cxnSpLocks/>
            <a:stCxn id="6" idx="2"/>
            <a:endCxn id="30" idx="0"/>
          </p:cNvCxnSpPr>
          <p:nvPr/>
        </p:nvCxnSpPr>
        <p:spPr>
          <a:xfrm>
            <a:off x="8951227" y="3419690"/>
            <a:ext cx="0" cy="3580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50"/>
          <p:cNvCxnSpPr>
            <a:cxnSpLocks/>
            <a:stCxn id="31" idx="2"/>
          </p:cNvCxnSpPr>
          <p:nvPr/>
        </p:nvCxnSpPr>
        <p:spPr>
          <a:xfrm flipH="1">
            <a:off x="7228630" y="4311130"/>
            <a:ext cx="305148" cy="669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52"/>
          <p:cNvCxnSpPr>
            <a:cxnSpLocks/>
            <a:stCxn id="31" idx="2"/>
            <a:endCxn id="26" idx="2"/>
          </p:cNvCxnSpPr>
          <p:nvPr/>
        </p:nvCxnSpPr>
        <p:spPr>
          <a:xfrm>
            <a:off x="7533778" y="4311130"/>
            <a:ext cx="284812" cy="669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54"/>
          <p:cNvCxnSpPr>
            <a:cxnSpLocks/>
            <a:stCxn id="30" idx="2"/>
            <a:endCxn id="24" idx="2"/>
          </p:cNvCxnSpPr>
          <p:nvPr/>
        </p:nvCxnSpPr>
        <p:spPr>
          <a:xfrm flipH="1">
            <a:off x="8408551" y="4311130"/>
            <a:ext cx="542676" cy="669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56"/>
          <p:cNvCxnSpPr>
            <a:cxnSpLocks/>
            <a:stCxn id="30" idx="2"/>
            <a:endCxn id="22" idx="2"/>
          </p:cNvCxnSpPr>
          <p:nvPr/>
        </p:nvCxnSpPr>
        <p:spPr>
          <a:xfrm>
            <a:off x="8951227" y="4311130"/>
            <a:ext cx="47285" cy="669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58"/>
          <p:cNvCxnSpPr>
            <a:cxnSpLocks/>
            <a:stCxn id="30" idx="2"/>
            <a:endCxn id="20" idx="2"/>
          </p:cNvCxnSpPr>
          <p:nvPr/>
        </p:nvCxnSpPr>
        <p:spPr>
          <a:xfrm>
            <a:off x="8951227" y="4311130"/>
            <a:ext cx="637246" cy="669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60"/>
          <p:cNvCxnSpPr>
            <a:cxnSpLocks/>
            <a:stCxn id="32" idx="2"/>
            <a:endCxn id="18" idx="2"/>
          </p:cNvCxnSpPr>
          <p:nvPr/>
        </p:nvCxnSpPr>
        <p:spPr>
          <a:xfrm flipH="1">
            <a:off x="10178434" y="4311130"/>
            <a:ext cx="193687" cy="669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64"/>
          <p:cNvCxnSpPr>
            <a:cxnSpLocks/>
            <a:stCxn id="32" idx="2"/>
            <a:endCxn id="16" idx="2"/>
          </p:cNvCxnSpPr>
          <p:nvPr/>
        </p:nvCxnSpPr>
        <p:spPr>
          <a:xfrm>
            <a:off x="10372121" y="4311130"/>
            <a:ext cx="396273" cy="669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5DBE102-7F3A-438F-98DD-EA1D7944C5D8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Clustered Indexes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48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  <p:bldP spid="30" grpId="0" animBg="1"/>
      <p:bldP spid="31" grpId="0" animBg="1"/>
      <p:bldP spid="3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253331"/>
            <a:ext cx="10512862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Useful for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fast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retrieving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 single record or a range of records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Maintained in a separate structure in the DB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Tend to be much narrower than the base table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Can locate the exact record(s) with less I/O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Has at least one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more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intermediate level than the clustered index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Much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valuable if table doesn’t have a clustered index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3959C-C607-436E-BD4B-4F1912D0B0C9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Non-Clustered Indexes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464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837981" y="1371600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 non-clustered has pointers to the actual data rows (pointers to the clustered index if there is one).</a:t>
            </a:r>
          </a:p>
        </p:txBody>
      </p:sp>
      <p:sp>
        <p:nvSpPr>
          <p:cNvPr id="5" name="Rectangle 9"/>
          <p:cNvSpPr/>
          <p:nvPr/>
        </p:nvSpPr>
        <p:spPr>
          <a:xfrm>
            <a:off x="2817811" y="2349496"/>
            <a:ext cx="1066800" cy="533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Keys</a:t>
            </a:r>
          </a:p>
        </p:txBody>
      </p:sp>
      <p:grpSp>
        <p:nvGrpSpPr>
          <p:cNvPr id="6" name="Group 39"/>
          <p:cNvGrpSpPr/>
          <p:nvPr/>
        </p:nvGrpSpPr>
        <p:grpSpPr>
          <a:xfrm>
            <a:off x="333689" y="4278122"/>
            <a:ext cx="5194074" cy="836369"/>
            <a:chOff x="5561012" y="5334000"/>
            <a:chExt cx="5194074" cy="836369"/>
          </a:xfrm>
        </p:grpSpPr>
        <p:sp>
          <p:nvSpPr>
            <p:cNvPr id="7" name="Rectangle: Rounded Corners 13"/>
            <p:cNvSpPr/>
            <p:nvPr/>
          </p:nvSpPr>
          <p:spPr>
            <a:xfrm>
              <a:off x="5561012" y="5334000"/>
              <a:ext cx="5194074" cy="836369"/>
            </a:xfrm>
            <a:prstGeom prst="roundRect">
              <a:avLst>
                <a:gd name="adj" fmla="val 5319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  <a:latin typeface="Consolas" pitchFamily="49" charset="0"/>
                  <a:cs typeface="Consolas" pitchFamily="49" charset="0"/>
                </a:rPr>
                <a:t>Data</a:t>
              </a:r>
            </a:p>
          </p:txBody>
        </p:sp>
        <p:grpSp>
          <p:nvGrpSpPr>
            <p:cNvPr id="8" name="Group 14"/>
            <p:cNvGrpSpPr/>
            <p:nvPr/>
          </p:nvGrpSpPr>
          <p:grpSpPr>
            <a:xfrm>
              <a:off x="6551136" y="5499904"/>
              <a:ext cx="609600" cy="533400"/>
              <a:chOff x="3998912" y="2209800"/>
              <a:chExt cx="609600" cy="533400"/>
            </a:xfrm>
          </p:grpSpPr>
          <p:sp>
            <p:nvSpPr>
              <p:cNvPr id="27" name="Rectangle: Folded Corner 15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chemeClr val="accent1">
                  <a:alpha val="25098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28" name="TextBox 16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9" name="Group 17"/>
            <p:cNvGrpSpPr/>
            <p:nvPr/>
          </p:nvGrpSpPr>
          <p:grpSpPr>
            <a:xfrm>
              <a:off x="7141097" y="5499904"/>
              <a:ext cx="609600" cy="533400"/>
              <a:chOff x="3998912" y="2209800"/>
              <a:chExt cx="609600" cy="533400"/>
            </a:xfrm>
          </p:grpSpPr>
          <p:sp>
            <p:nvSpPr>
              <p:cNvPr id="25" name="Rectangle: Folded Corner 18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chemeClr val="accent1">
                  <a:alpha val="25098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26" name="TextBox 19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10" name="Group 20"/>
            <p:cNvGrpSpPr/>
            <p:nvPr/>
          </p:nvGrpSpPr>
          <p:grpSpPr>
            <a:xfrm>
              <a:off x="7731058" y="5499904"/>
              <a:ext cx="609600" cy="533400"/>
              <a:chOff x="3998912" y="2209800"/>
              <a:chExt cx="609600" cy="533400"/>
            </a:xfrm>
          </p:grpSpPr>
          <p:sp>
            <p:nvSpPr>
              <p:cNvPr id="23" name="Rectangle: Folded Corner 21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chemeClr val="accent1">
                  <a:alpha val="25098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24" name="TextBox 22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11" name="Group 23"/>
            <p:cNvGrpSpPr/>
            <p:nvPr/>
          </p:nvGrpSpPr>
          <p:grpSpPr>
            <a:xfrm>
              <a:off x="8321019" y="5499904"/>
              <a:ext cx="609600" cy="533400"/>
              <a:chOff x="3998912" y="2209800"/>
              <a:chExt cx="609600" cy="533400"/>
            </a:xfrm>
          </p:grpSpPr>
          <p:sp>
            <p:nvSpPr>
              <p:cNvPr id="21" name="Rectangle: Folded Corner 24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chemeClr val="accent1">
                  <a:alpha val="25098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22" name="TextBox 25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12" name="Group 26"/>
            <p:cNvGrpSpPr/>
            <p:nvPr/>
          </p:nvGrpSpPr>
          <p:grpSpPr>
            <a:xfrm>
              <a:off x="8910980" y="5499904"/>
              <a:ext cx="609600" cy="533400"/>
              <a:chOff x="3998912" y="2209800"/>
              <a:chExt cx="609600" cy="533400"/>
            </a:xfrm>
          </p:grpSpPr>
          <p:sp>
            <p:nvSpPr>
              <p:cNvPr id="19" name="Rectangle: Folded Corner 27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chemeClr val="accent1">
                  <a:alpha val="25098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20" name="TextBox 28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13" name="Group 33"/>
            <p:cNvGrpSpPr/>
            <p:nvPr/>
          </p:nvGrpSpPr>
          <p:grpSpPr>
            <a:xfrm>
              <a:off x="9500941" y="5499904"/>
              <a:ext cx="609600" cy="533400"/>
              <a:chOff x="3998912" y="2209800"/>
              <a:chExt cx="609600" cy="533400"/>
            </a:xfrm>
          </p:grpSpPr>
          <p:sp>
            <p:nvSpPr>
              <p:cNvPr id="17" name="Rectangle: Folded Corner 34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chemeClr val="accent1">
                  <a:alpha val="25098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18" name="TextBox 35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14" name="Group 36"/>
            <p:cNvGrpSpPr/>
            <p:nvPr/>
          </p:nvGrpSpPr>
          <p:grpSpPr>
            <a:xfrm>
              <a:off x="10090901" y="5499904"/>
              <a:ext cx="609600" cy="533400"/>
              <a:chOff x="3998912" y="2209800"/>
              <a:chExt cx="609600" cy="533400"/>
            </a:xfrm>
          </p:grpSpPr>
          <p:sp>
            <p:nvSpPr>
              <p:cNvPr id="15" name="Rectangle: Folded Corner 37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chemeClr val="accent1">
                  <a:alpha val="25098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16" name="TextBox 38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</p:grpSp>
      <p:sp>
        <p:nvSpPr>
          <p:cNvPr id="29" name="Rectangle 40"/>
          <p:cNvSpPr/>
          <p:nvPr/>
        </p:nvSpPr>
        <p:spPr>
          <a:xfrm>
            <a:off x="2713965" y="3240936"/>
            <a:ext cx="1274492" cy="533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100-199</a:t>
            </a:r>
            <a:endParaRPr lang="en-US" sz="2000" dirty="0"/>
          </a:p>
        </p:txBody>
      </p:sp>
      <p:sp>
        <p:nvSpPr>
          <p:cNvPr id="30" name="Rectangle 41"/>
          <p:cNvSpPr/>
          <p:nvPr/>
        </p:nvSpPr>
        <p:spPr>
          <a:xfrm>
            <a:off x="1236134" y="3240936"/>
            <a:ext cx="1395256" cy="533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0-99</a:t>
            </a:r>
          </a:p>
        </p:txBody>
      </p:sp>
      <p:sp>
        <p:nvSpPr>
          <p:cNvPr id="31" name="Rectangle 42"/>
          <p:cNvSpPr/>
          <p:nvPr/>
        </p:nvSpPr>
        <p:spPr>
          <a:xfrm>
            <a:off x="4071032" y="3240936"/>
            <a:ext cx="1402146" cy="533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200-299</a:t>
            </a:r>
            <a:endParaRPr lang="en-US" sz="2800" dirty="0"/>
          </a:p>
        </p:txBody>
      </p:sp>
      <p:cxnSp>
        <p:nvCxnSpPr>
          <p:cNvPr id="32" name="Connector: Elbow 44"/>
          <p:cNvCxnSpPr>
            <a:cxnSpLocks/>
            <a:stCxn id="5" idx="1"/>
            <a:endCxn id="30" idx="0"/>
          </p:cNvCxnSpPr>
          <p:nvPr/>
        </p:nvCxnSpPr>
        <p:spPr>
          <a:xfrm rot="10800000" flipV="1">
            <a:off x="1933763" y="2616196"/>
            <a:ext cx="884049" cy="624740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46"/>
          <p:cNvCxnSpPr>
            <a:cxnSpLocks/>
            <a:stCxn id="5" idx="3"/>
            <a:endCxn id="31" idx="0"/>
          </p:cNvCxnSpPr>
          <p:nvPr/>
        </p:nvCxnSpPr>
        <p:spPr>
          <a:xfrm>
            <a:off x="3884611" y="2616196"/>
            <a:ext cx="887494" cy="624740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48"/>
          <p:cNvCxnSpPr>
            <a:cxnSpLocks/>
            <a:stCxn id="5" idx="2"/>
            <a:endCxn id="29" idx="0"/>
          </p:cNvCxnSpPr>
          <p:nvPr/>
        </p:nvCxnSpPr>
        <p:spPr>
          <a:xfrm>
            <a:off x="3351211" y="2882896"/>
            <a:ext cx="0" cy="3580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50"/>
          <p:cNvCxnSpPr>
            <a:cxnSpLocks/>
            <a:stCxn id="30" idx="2"/>
          </p:cNvCxnSpPr>
          <p:nvPr/>
        </p:nvCxnSpPr>
        <p:spPr>
          <a:xfrm flipH="1">
            <a:off x="1628614" y="3774336"/>
            <a:ext cx="305148" cy="669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52"/>
          <p:cNvCxnSpPr>
            <a:cxnSpLocks/>
            <a:stCxn id="30" idx="2"/>
            <a:endCxn id="25" idx="2"/>
          </p:cNvCxnSpPr>
          <p:nvPr/>
        </p:nvCxnSpPr>
        <p:spPr>
          <a:xfrm>
            <a:off x="1933762" y="3774336"/>
            <a:ext cx="284812" cy="669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54"/>
          <p:cNvCxnSpPr>
            <a:cxnSpLocks/>
            <a:stCxn id="29" idx="2"/>
            <a:endCxn id="23" idx="2"/>
          </p:cNvCxnSpPr>
          <p:nvPr/>
        </p:nvCxnSpPr>
        <p:spPr>
          <a:xfrm flipH="1">
            <a:off x="2808535" y="3774336"/>
            <a:ext cx="542676" cy="669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56"/>
          <p:cNvCxnSpPr>
            <a:cxnSpLocks/>
            <a:stCxn id="29" idx="2"/>
            <a:endCxn id="21" idx="2"/>
          </p:cNvCxnSpPr>
          <p:nvPr/>
        </p:nvCxnSpPr>
        <p:spPr>
          <a:xfrm>
            <a:off x="3351211" y="3774336"/>
            <a:ext cx="47285" cy="669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58"/>
          <p:cNvCxnSpPr>
            <a:cxnSpLocks/>
            <a:stCxn id="29" idx="2"/>
            <a:endCxn id="19" idx="2"/>
          </p:cNvCxnSpPr>
          <p:nvPr/>
        </p:nvCxnSpPr>
        <p:spPr>
          <a:xfrm>
            <a:off x="3351211" y="3774336"/>
            <a:ext cx="637246" cy="669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60"/>
          <p:cNvCxnSpPr>
            <a:cxnSpLocks/>
            <a:stCxn id="31" idx="2"/>
            <a:endCxn id="17" idx="2"/>
          </p:cNvCxnSpPr>
          <p:nvPr/>
        </p:nvCxnSpPr>
        <p:spPr>
          <a:xfrm flipH="1">
            <a:off x="4578418" y="3774336"/>
            <a:ext cx="193687" cy="669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64"/>
          <p:cNvCxnSpPr>
            <a:cxnSpLocks/>
            <a:stCxn id="31" idx="2"/>
            <a:endCxn id="15" idx="2"/>
          </p:cNvCxnSpPr>
          <p:nvPr/>
        </p:nvCxnSpPr>
        <p:spPr>
          <a:xfrm>
            <a:off x="4772105" y="3774336"/>
            <a:ext cx="396273" cy="669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82"/>
          <p:cNvSpPr/>
          <p:nvPr/>
        </p:nvSpPr>
        <p:spPr>
          <a:xfrm>
            <a:off x="8672737" y="2349496"/>
            <a:ext cx="1066800" cy="533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Index</a:t>
            </a:r>
          </a:p>
        </p:txBody>
      </p:sp>
      <p:grpSp>
        <p:nvGrpSpPr>
          <p:cNvPr id="43" name="Group 83"/>
          <p:cNvGrpSpPr/>
          <p:nvPr/>
        </p:nvGrpSpPr>
        <p:grpSpPr>
          <a:xfrm>
            <a:off x="6188615" y="4278122"/>
            <a:ext cx="5194074" cy="836369"/>
            <a:chOff x="5561012" y="5334000"/>
            <a:chExt cx="5194074" cy="836369"/>
          </a:xfrm>
          <a:solidFill>
            <a:srgbClr val="00B050">
              <a:alpha val="20000"/>
            </a:srgbClr>
          </a:solidFill>
        </p:grpSpPr>
        <p:sp>
          <p:nvSpPr>
            <p:cNvPr id="44" name="Rectangle: Rounded Corners 84"/>
            <p:cNvSpPr/>
            <p:nvPr/>
          </p:nvSpPr>
          <p:spPr>
            <a:xfrm>
              <a:off x="5561012" y="5334000"/>
              <a:ext cx="5194074" cy="836369"/>
            </a:xfrm>
            <a:prstGeom prst="roundRect">
              <a:avLst>
                <a:gd name="adj" fmla="val 5319"/>
              </a:avLst>
            </a:prstGeom>
            <a:grpFill/>
            <a:ln w="38100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  <a:latin typeface="Consolas" pitchFamily="49" charset="0"/>
                  <a:cs typeface="Consolas" pitchFamily="49" charset="0"/>
                </a:rPr>
                <a:t>Links</a:t>
              </a:r>
            </a:p>
          </p:txBody>
        </p:sp>
        <p:grpSp>
          <p:nvGrpSpPr>
            <p:cNvPr id="45" name="Group 85"/>
            <p:cNvGrpSpPr/>
            <p:nvPr/>
          </p:nvGrpSpPr>
          <p:grpSpPr>
            <a:xfrm>
              <a:off x="6551136" y="5499904"/>
              <a:ext cx="609600" cy="533400"/>
              <a:chOff x="3998912" y="2209800"/>
              <a:chExt cx="609600" cy="533400"/>
            </a:xfrm>
            <a:grpFill/>
          </p:grpSpPr>
          <p:sp>
            <p:nvSpPr>
              <p:cNvPr id="64" name="Rectangle: Folded Corner 104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65" name="TextBox 105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46" name="Group 86"/>
            <p:cNvGrpSpPr/>
            <p:nvPr/>
          </p:nvGrpSpPr>
          <p:grpSpPr>
            <a:xfrm>
              <a:off x="7141097" y="5499904"/>
              <a:ext cx="609600" cy="533400"/>
              <a:chOff x="3998912" y="2209800"/>
              <a:chExt cx="609600" cy="533400"/>
            </a:xfrm>
            <a:grpFill/>
          </p:grpSpPr>
          <p:sp>
            <p:nvSpPr>
              <p:cNvPr id="62" name="Rectangle: Folded Corner 102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63" name="TextBox 103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47" name="Group 87"/>
            <p:cNvGrpSpPr/>
            <p:nvPr/>
          </p:nvGrpSpPr>
          <p:grpSpPr>
            <a:xfrm>
              <a:off x="7731058" y="5499904"/>
              <a:ext cx="609600" cy="533400"/>
              <a:chOff x="3998912" y="2209800"/>
              <a:chExt cx="609600" cy="533400"/>
            </a:xfrm>
            <a:grpFill/>
          </p:grpSpPr>
          <p:sp>
            <p:nvSpPr>
              <p:cNvPr id="60" name="Rectangle: Folded Corner 100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61" name="TextBox 101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48" name="Group 88"/>
            <p:cNvGrpSpPr/>
            <p:nvPr/>
          </p:nvGrpSpPr>
          <p:grpSpPr>
            <a:xfrm>
              <a:off x="8321019" y="5499904"/>
              <a:ext cx="609600" cy="533400"/>
              <a:chOff x="3998912" y="2209800"/>
              <a:chExt cx="609600" cy="533400"/>
            </a:xfrm>
            <a:grpFill/>
          </p:grpSpPr>
          <p:sp>
            <p:nvSpPr>
              <p:cNvPr id="58" name="Rectangle: Folded Corner 98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59" name="TextBox 99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49" name="Group 89"/>
            <p:cNvGrpSpPr/>
            <p:nvPr/>
          </p:nvGrpSpPr>
          <p:grpSpPr>
            <a:xfrm>
              <a:off x="8910980" y="5499904"/>
              <a:ext cx="609600" cy="533400"/>
              <a:chOff x="3998912" y="2209800"/>
              <a:chExt cx="609600" cy="533400"/>
            </a:xfrm>
            <a:grpFill/>
          </p:grpSpPr>
          <p:sp>
            <p:nvSpPr>
              <p:cNvPr id="56" name="Rectangle: Folded Corner 96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57" name="TextBox 97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50" name="Group 90"/>
            <p:cNvGrpSpPr/>
            <p:nvPr/>
          </p:nvGrpSpPr>
          <p:grpSpPr>
            <a:xfrm>
              <a:off x="9500941" y="5499904"/>
              <a:ext cx="609600" cy="533400"/>
              <a:chOff x="3998912" y="2209800"/>
              <a:chExt cx="609600" cy="533400"/>
            </a:xfrm>
            <a:grpFill/>
          </p:grpSpPr>
          <p:sp>
            <p:nvSpPr>
              <p:cNvPr id="54" name="Rectangle: Folded Corner 94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55" name="TextBox 95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51" name="Group 91"/>
            <p:cNvGrpSpPr/>
            <p:nvPr/>
          </p:nvGrpSpPr>
          <p:grpSpPr>
            <a:xfrm>
              <a:off x="10090901" y="5499904"/>
              <a:ext cx="609600" cy="533400"/>
              <a:chOff x="3998912" y="2209800"/>
              <a:chExt cx="609600" cy="533400"/>
            </a:xfrm>
            <a:grpFill/>
          </p:grpSpPr>
          <p:sp>
            <p:nvSpPr>
              <p:cNvPr id="52" name="Rectangle: Folded Corner 92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53" name="TextBox 93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</p:grpSp>
      <p:grpSp>
        <p:nvGrpSpPr>
          <p:cNvPr id="66" name="Group 121"/>
          <p:cNvGrpSpPr/>
          <p:nvPr/>
        </p:nvGrpSpPr>
        <p:grpSpPr>
          <a:xfrm>
            <a:off x="7091060" y="3240936"/>
            <a:ext cx="4237044" cy="533400"/>
            <a:chOff x="7289183" y="4701440"/>
            <a:chExt cx="4237044" cy="5334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7" name="Rectangle 106"/>
            <p:cNvSpPr/>
            <p:nvPr/>
          </p:nvSpPr>
          <p:spPr>
            <a:xfrm>
              <a:off x="8767014" y="4701440"/>
              <a:ext cx="1274492" cy="533400"/>
            </a:xfrm>
            <a:prstGeom prst="rect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Range 2</a:t>
              </a:r>
              <a:endParaRPr lang="en-US" sz="2000" dirty="0"/>
            </a:p>
          </p:txBody>
        </p:sp>
        <p:sp>
          <p:nvSpPr>
            <p:cNvPr id="68" name="Rectangle 107"/>
            <p:cNvSpPr/>
            <p:nvPr/>
          </p:nvSpPr>
          <p:spPr>
            <a:xfrm>
              <a:off x="7289183" y="4701440"/>
              <a:ext cx="1395256" cy="533400"/>
            </a:xfrm>
            <a:prstGeom prst="rect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Range 1</a:t>
              </a:r>
            </a:p>
          </p:txBody>
        </p:sp>
        <p:sp>
          <p:nvSpPr>
            <p:cNvPr id="69" name="Rectangle 108"/>
            <p:cNvSpPr/>
            <p:nvPr/>
          </p:nvSpPr>
          <p:spPr>
            <a:xfrm>
              <a:off x="10124081" y="4701440"/>
              <a:ext cx="1402146" cy="533400"/>
            </a:xfrm>
            <a:prstGeom prst="rect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Range 3</a:t>
              </a:r>
              <a:endParaRPr lang="en-US" sz="2800" dirty="0"/>
            </a:p>
          </p:txBody>
        </p:sp>
      </p:grpSp>
      <p:grpSp>
        <p:nvGrpSpPr>
          <p:cNvPr id="70" name="Group 120"/>
          <p:cNvGrpSpPr/>
          <p:nvPr/>
        </p:nvGrpSpPr>
        <p:grpSpPr>
          <a:xfrm>
            <a:off x="7788689" y="2616196"/>
            <a:ext cx="2838342" cy="624740"/>
            <a:chOff x="7788689" y="2616196"/>
            <a:chExt cx="2838342" cy="624740"/>
          </a:xfrm>
        </p:grpSpPr>
        <p:cxnSp>
          <p:nvCxnSpPr>
            <p:cNvPr id="71" name="Connector: Elbow 109"/>
            <p:cNvCxnSpPr>
              <a:cxnSpLocks/>
              <a:stCxn id="42" idx="1"/>
              <a:endCxn id="68" idx="0"/>
            </p:cNvCxnSpPr>
            <p:nvPr/>
          </p:nvCxnSpPr>
          <p:spPr>
            <a:xfrm rot="10800000" flipV="1">
              <a:off x="7788689" y="2616196"/>
              <a:ext cx="884049" cy="624740"/>
            </a:xfrm>
            <a:prstGeom prst="bentConnector2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: Elbow 110"/>
            <p:cNvCxnSpPr>
              <a:cxnSpLocks/>
              <a:stCxn id="42" idx="3"/>
              <a:endCxn id="69" idx="0"/>
            </p:cNvCxnSpPr>
            <p:nvPr/>
          </p:nvCxnSpPr>
          <p:spPr>
            <a:xfrm>
              <a:off x="9739537" y="2616196"/>
              <a:ext cx="887494" cy="624740"/>
            </a:xfrm>
            <a:prstGeom prst="bentConnector2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111"/>
            <p:cNvCxnSpPr>
              <a:cxnSpLocks/>
              <a:stCxn id="42" idx="2"/>
              <a:endCxn id="67" idx="0"/>
            </p:cNvCxnSpPr>
            <p:nvPr/>
          </p:nvCxnSpPr>
          <p:spPr>
            <a:xfrm>
              <a:off x="9206137" y="2882896"/>
              <a:ext cx="0" cy="35804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122"/>
          <p:cNvGrpSpPr/>
          <p:nvPr/>
        </p:nvGrpSpPr>
        <p:grpSpPr>
          <a:xfrm>
            <a:off x="7483540" y="3774336"/>
            <a:ext cx="3539764" cy="669690"/>
            <a:chOff x="7483540" y="3774336"/>
            <a:chExt cx="3539764" cy="669690"/>
          </a:xfrm>
        </p:grpSpPr>
        <p:cxnSp>
          <p:nvCxnSpPr>
            <p:cNvPr id="75" name="Straight Arrow Connector 112"/>
            <p:cNvCxnSpPr>
              <a:cxnSpLocks/>
              <a:stCxn id="68" idx="2"/>
            </p:cNvCxnSpPr>
            <p:nvPr/>
          </p:nvCxnSpPr>
          <p:spPr>
            <a:xfrm flipH="1">
              <a:off x="7483540" y="3774336"/>
              <a:ext cx="305148" cy="66969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113"/>
            <p:cNvCxnSpPr>
              <a:cxnSpLocks/>
              <a:stCxn id="68" idx="2"/>
              <a:endCxn id="62" idx="2"/>
            </p:cNvCxnSpPr>
            <p:nvPr/>
          </p:nvCxnSpPr>
          <p:spPr>
            <a:xfrm>
              <a:off x="7788688" y="3774336"/>
              <a:ext cx="284812" cy="66969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114"/>
            <p:cNvCxnSpPr>
              <a:cxnSpLocks/>
              <a:stCxn id="67" idx="2"/>
              <a:endCxn id="60" idx="2"/>
            </p:cNvCxnSpPr>
            <p:nvPr/>
          </p:nvCxnSpPr>
          <p:spPr>
            <a:xfrm flipH="1">
              <a:off x="8663461" y="3774336"/>
              <a:ext cx="542676" cy="66969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115"/>
            <p:cNvCxnSpPr>
              <a:cxnSpLocks/>
              <a:stCxn id="67" idx="2"/>
              <a:endCxn id="58" idx="2"/>
            </p:cNvCxnSpPr>
            <p:nvPr/>
          </p:nvCxnSpPr>
          <p:spPr>
            <a:xfrm>
              <a:off x="9206137" y="3774336"/>
              <a:ext cx="47285" cy="66969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116"/>
            <p:cNvCxnSpPr>
              <a:cxnSpLocks/>
              <a:stCxn id="67" idx="2"/>
              <a:endCxn id="56" idx="2"/>
            </p:cNvCxnSpPr>
            <p:nvPr/>
          </p:nvCxnSpPr>
          <p:spPr>
            <a:xfrm>
              <a:off x="9206137" y="3774336"/>
              <a:ext cx="637246" cy="66969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117"/>
            <p:cNvCxnSpPr>
              <a:cxnSpLocks/>
              <a:stCxn id="69" idx="2"/>
              <a:endCxn id="54" idx="2"/>
            </p:cNvCxnSpPr>
            <p:nvPr/>
          </p:nvCxnSpPr>
          <p:spPr>
            <a:xfrm flipH="1">
              <a:off x="10433344" y="3774336"/>
              <a:ext cx="193687" cy="66969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118"/>
            <p:cNvCxnSpPr>
              <a:cxnSpLocks/>
              <a:stCxn id="69" idx="2"/>
              <a:endCxn id="52" idx="2"/>
            </p:cNvCxnSpPr>
            <p:nvPr/>
          </p:nvCxnSpPr>
          <p:spPr>
            <a:xfrm>
              <a:off x="10627031" y="3774336"/>
              <a:ext cx="396273" cy="66969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Arrow: Right 119"/>
          <p:cNvSpPr/>
          <p:nvPr/>
        </p:nvSpPr>
        <p:spPr>
          <a:xfrm rot="10800000">
            <a:off x="5596319" y="4441086"/>
            <a:ext cx="533400" cy="510440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C9BFF65-06D3-4FD0-8944-D050DF0B1592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Non-Clustered Indexes (1)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81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9" grpId="0" animBg="1"/>
      <p:bldP spid="30" grpId="0" animBg="1"/>
      <p:bldP spid="31" grpId="0" animBg="1"/>
      <p:bldP spid="42" grpId="0" animBg="1"/>
      <p:bldP spid="8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2414" y="2667000"/>
            <a:ext cx="8839198" cy="166199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0" tIns="91440" rIns="0" bIns="91440" rtlCol="0">
            <a:spAutoFit/>
          </a:bodyPr>
          <a:lstStyle/>
          <a:p>
            <a:pPr lvl="1"/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CREATE NONCLUSTERED INDEX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IX_Employees_FirstName_LastName</a:t>
            </a:r>
          </a:p>
          <a:p>
            <a:pPr lvl="1"/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Employees(FirstName, LastName)</a:t>
            </a:r>
            <a:endParaRPr lang="en-US" sz="3200" noProof="1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1370012" y="4553562"/>
            <a:ext cx="2932706" cy="564085"/>
          </a:xfrm>
          <a:prstGeom prst="wedgeRoundRectCallout">
            <a:avLst>
              <a:gd name="adj1" fmla="val 48152"/>
              <a:gd name="adj2" fmla="val -94474"/>
              <a:gd name="adj3" fmla="val 16667"/>
            </a:avLst>
          </a:prstGeom>
          <a:solidFill>
            <a:schemeClr val="accent2">
              <a:lumMod val="75000"/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Table Name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6892924" y="4532685"/>
            <a:ext cx="2932706" cy="564085"/>
          </a:xfrm>
          <a:prstGeom prst="wedgeRoundRectCallout">
            <a:avLst>
              <a:gd name="adj1" fmla="val -50336"/>
              <a:gd name="adj2" fmla="val -97047"/>
              <a:gd name="adj3" fmla="val 16667"/>
            </a:avLst>
          </a:prstGeom>
          <a:solidFill>
            <a:schemeClr val="accent2">
              <a:lumMod val="75000"/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Columns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4837113" y="1985585"/>
            <a:ext cx="2971800" cy="558485"/>
          </a:xfrm>
          <a:prstGeom prst="wedgeRoundRectCallout">
            <a:avLst>
              <a:gd name="adj1" fmla="val -45949"/>
              <a:gd name="adj2" fmla="val 85694"/>
              <a:gd name="adj3" fmla="val 16667"/>
            </a:avLst>
          </a:prstGeom>
          <a:solidFill>
            <a:schemeClr val="accent2">
              <a:lumMod val="75000"/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</a:rPr>
              <a:t>Index Type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B5B4BB-83BB-4F1A-80A1-DE3FF72DE5CE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Indices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Контейнер за съдържание 2">
            <a:extLst>
              <a:ext uri="{FF2B5EF4-FFF2-40B4-BE49-F238E27FC236}">
                <a16:creationId xmlns:a16="http://schemas.microsoft.com/office/drawing/2014/main" id="{CF58B386-2095-4182-BABF-4D5A87E47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81" y="1371600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229257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7981" y="1143000"/>
            <a:ext cx="10512862" cy="4351338"/>
          </a:xfrm>
        </p:spPr>
        <p:txBody>
          <a:bodyPr>
            <a:noAutofit/>
          </a:bodyPr>
          <a:lstStyle/>
          <a:p>
            <a:pPr marL="444500" indent="-444500">
              <a:lnSpc>
                <a:spcPct val="100000"/>
              </a:lnSpc>
              <a:buFontTx/>
              <a:buAutoNum type="arabicPeriod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Joins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44500" indent="-444500">
              <a:lnSpc>
                <a:spcPct val="100000"/>
              </a:lnSpc>
              <a:buFontTx/>
              <a:buAutoNum type="arabicPeriod"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Subqueries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are used to nest queries.</a:t>
            </a:r>
          </a:p>
          <a:p>
            <a:pPr marL="444500" indent="-444500">
              <a:lnSpc>
                <a:spcPct val="100000"/>
              </a:lnSpc>
              <a:buFontTx/>
              <a:buAutoNum type="arabicPeriod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CTE's improve code reuse and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readability.</a:t>
            </a:r>
          </a:p>
          <a:p>
            <a:pPr marL="444500" indent="-444500">
              <a:lnSpc>
                <a:spcPct val="100000"/>
              </a:lnSpc>
              <a:buFontTx/>
              <a:buAutoNum type="arabicPeriod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Indices improve SQL search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performance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if used properly.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2132012" y="1727970"/>
            <a:ext cx="6800409" cy="160310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0" lvl="2"/>
            <a:r>
              <a:rPr lang="en-US" sz="3000" b="1" dirty="0">
                <a:solidFill>
                  <a:schemeClr val="tx2"/>
                </a:solidFill>
                <a:latin typeface="Consolas" panose="020B0609020204030204" pitchFamily="49" charset="0"/>
              </a:rPr>
              <a:t>SELECT * FROM Employees AS e</a:t>
            </a:r>
          </a:p>
          <a:p>
            <a:pPr marL="0" lvl="2"/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 JOIN </a:t>
            </a:r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Departments AS d 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ON</a:t>
            </a:r>
            <a:b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en-US" sz="3000" b="1" noProof="1">
                <a:latin typeface="Consolas" panose="020B0609020204030204" pitchFamily="49" charset="0"/>
              </a:rPr>
              <a:t>d.DepartmentId = e.DepartmentID</a:t>
            </a:r>
            <a:endParaRPr lang="en-US" sz="3000" noProof="1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A3705D-DBEA-4893-825E-4389FE4BE19E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Summary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65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327e4cb-458d-4bcc-91c2-6b295fda8f37" xsi:nil="true"/>
    <lcf76f155ced4ddcb4097134ff3c332f xmlns="9eef95c9-828c-409c-a7e4-d6f8945e3a0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B2D4C9A1D66B45AAC7DF823AC34687" ma:contentTypeVersion="13" ma:contentTypeDescription="Create a new document." ma:contentTypeScope="" ma:versionID="9666e3ec7d6379f54fa231673fa61250">
  <xsd:schema xmlns:xsd="http://www.w3.org/2001/XMLSchema" xmlns:xs="http://www.w3.org/2001/XMLSchema" xmlns:p="http://schemas.microsoft.com/office/2006/metadata/properties" xmlns:ns2="9eef95c9-828c-409c-a7e4-d6f8945e3a00" xmlns:ns3="0327e4cb-458d-4bcc-91c2-6b295fda8f37" targetNamespace="http://schemas.microsoft.com/office/2006/metadata/properties" ma:root="true" ma:fieldsID="4a82a12cfec1fe565c63728a621c8824" ns2:_="" ns3:_="">
    <xsd:import namespace="9eef95c9-828c-409c-a7e4-d6f8945e3a00"/>
    <xsd:import namespace="0327e4cb-458d-4bcc-91c2-6b295fda8f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ef95c9-828c-409c-a7e4-d6f8945e3a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3b64ef9-597b-4c99-8f75-8e42860b9f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27e4cb-458d-4bcc-91c2-6b295fda8f3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d658e49a-7a2f-4051-9567-0c1652778040}" ma:internalName="TaxCatchAll" ma:showField="CatchAllData" ma:web="0327e4cb-458d-4bcc-91c2-6b295fda8f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6E916B-125D-455E-8B10-D921CFE133D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3F3B616-ADEB-4EC7-9348-4CFB673C302F}">
  <ds:schemaRefs>
    <ds:schemaRef ds:uri="http://schemas.microsoft.com/office/2006/metadata/properties"/>
    <ds:schemaRef ds:uri="http://schemas.microsoft.com/office/infopath/2007/PartnerControls"/>
    <ds:schemaRef ds:uri="0327e4cb-458d-4bcc-91c2-6b295fda8f37"/>
    <ds:schemaRef ds:uri="9eef95c9-828c-409c-a7e4-d6f8945e3a00"/>
  </ds:schemaRefs>
</ds:datastoreItem>
</file>

<file path=customXml/itemProps3.xml><?xml version="1.0" encoding="utf-8"?>
<ds:datastoreItem xmlns:ds="http://schemas.openxmlformats.org/officeDocument/2006/customXml" ds:itemID="{45AB7C31-EBD0-4733-86CE-601F7F0084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ef95c9-828c-409c-a7e4-d6f8945e3a00"/>
    <ds:schemaRef ds:uri="0327e4cb-458d-4bcc-91c2-6b295fda8f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970c7fe-5391-4388-8b1f-6eba3d8371e6}" enabled="1" method="Standard" siteId="{f15dd8d1-822a-4009-bdbf-57951d225a9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3639</TotalTime>
  <Words>2983</Words>
  <Application>Microsoft Office PowerPoint</Application>
  <PresentationFormat>Custom</PresentationFormat>
  <Paragraphs>894</Paragraphs>
  <Slides>49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8" baseType="lpstr">
      <vt:lpstr>Arial</vt:lpstr>
      <vt:lpstr>Calibri</vt:lpstr>
      <vt:lpstr>Calibri Light</vt:lpstr>
      <vt:lpstr>Consolas</vt:lpstr>
      <vt:lpstr>Courier New</vt:lpstr>
      <vt:lpstr>Sarabun Light</vt:lpstr>
      <vt:lpstr>Segoe UI</vt:lpstr>
      <vt:lpstr>Times New Roman</vt:lpstr>
      <vt:lpstr>Office Theme</vt:lpstr>
      <vt:lpstr>JOINS, SUBQUERIES, CTE  AND INDICES</vt:lpstr>
      <vt:lpstr>PowerPoint Presentation</vt:lpstr>
      <vt:lpstr>JOINS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Problem: Addresses with Towns</vt:lpstr>
      <vt:lpstr>Solution: Addresses with Towns</vt:lpstr>
      <vt:lpstr>Problem: Sales Employees</vt:lpstr>
      <vt:lpstr>Solution: Sales Employees</vt:lpstr>
      <vt:lpstr>Problem: Employees Hired After</vt:lpstr>
      <vt:lpstr>Solution: Employees Hired After</vt:lpstr>
      <vt:lpstr>Problem: Employee Summary</vt:lpstr>
      <vt:lpstr>Solution: Employee Summary</vt:lpstr>
      <vt:lpstr>SUBQUERIES</vt:lpstr>
      <vt:lpstr>PowerPoint Presentation</vt:lpstr>
      <vt:lpstr>PowerPoint Presentation</vt:lpstr>
      <vt:lpstr>PowerPoint Presentation</vt:lpstr>
      <vt:lpstr>PowerPoint Presentation</vt:lpstr>
      <vt:lpstr>COMMON TABLE EXPRESSIONS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Neurond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JOINS, SUBQUERIES, CTE  AND INDICES</dc:title>
  <dc:creator>Thanh Ho Hoang</dc:creator>
  <cp:lastModifiedBy>An Ly Minh</cp:lastModifiedBy>
  <cp:revision>192</cp:revision>
  <dcterms:created xsi:type="dcterms:W3CDTF">2014-01-02T17:00:34Z</dcterms:created>
  <dcterms:modified xsi:type="dcterms:W3CDTF">2025-05-06T21:34:09Z</dcterms:modified>
  <cp:category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  <property fmtid="{D5CDD505-2E9C-101B-9397-08002B2CF9AE}" pid="3" name="ContentTypeId">
    <vt:lpwstr>0x01010074B2D4C9A1D66B45AAC7DF823AC34687</vt:lpwstr>
  </property>
  <property fmtid="{D5CDD505-2E9C-101B-9397-08002B2CF9AE}" pid="4" name="MediaServiceImageTags">
    <vt:lpwstr/>
  </property>
  <property fmtid="{D5CDD505-2E9C-101B-9397-08002B2CF9AE}" pid="5" name="MSIP_Label_4970c7fe-5391-4388-8b1f-6eba3d8371e6_Enabled">
    <vt:lpwstr>true</vt:lpwstr>
  </property>
  <property fmtid="{D5CDD505-2E9C-101B-9397-08002B2CF9AE}" pid="6" name="MSIP_Label_4970c7fe-5391-4388-8b1f-6eba3d8371e6_SetDate">
    <vt:lpwstr>2022-07-26T08:54:48Z</vt:lpwstr>
  </property>
  <property fmtid="{D5CDD505-2E9C-101B-9397-08002B2CF9AE}" pid="7" name="MSIP_Label_4970c7fe-5391-4388-8b1f-6eba3d8371e6_Method">
    <vt:lpwstr>Standard</vt:lpwstr>
  </property>
  <property fmtid="{D5CDD505-2E9C-101B-9397-08002B2CF9AE}" pid="8" name="MSIP_Label_4970c7fe-5391-4388-8b1f-6eba3d8371e6_Name">
    <vt:lpwstr>Internal</vt:lpwstr>
  </property>
  <property fmtid="{D5CDD505-2E9C-101B-9397-08002B2CF9AE}" pid="9" name="MSIP_Label_4970c7fe-5391-4388-8b1f-6eba3d8371e6_SiteId">
    <vt:lpwstr>f15dd8d1-822a-4009-bdbf-57951d225a99</vt:lpwstr>
  </property>
  <property fmtid="{D5CDD505-2E9C-101B-9397-08002B2CF9AE}" pid="10" name="MSIP_Label_4970c7fe-5391-4388-8b1f-6eba3d8371e6_ActionId">
    <vt:lpwstr>cc66559f-91c6-4c42-b8dd-eaab65f9b3ed</vt:lpwstr>
  </property>
  <property fmtid="{D5CDD505-2E9C-101B-9397-08002B2CF9AE}" pid="11" name="MSIP_Label_4970c7fe-5391-4388-8b1f-6eba3d8371e6_ContentBits">
    <vt:lpwstr>0</vt:lpwstr>
  </property>
</Properties>
</file>